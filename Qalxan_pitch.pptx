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Scams caught</c:v>
                </c:pt>
              </c:strCache>
            </c:strRef>
          </c:tx>
          <c:spPr>
            <a:solidFill>
              <a:srgbClr val="00A862"/>
            </a:solidFill>
            <a:effectLst/>
          </c:spPr>
          <c:invertIfNegative val="0"/>
          <c:dLbls>
            <c:numFmt formatCode="0&quot;.&quot;0&quot;%&quot;" sourceLinked="0"/>
            <c:txPr>
              <a:bodyPr/>
              <a:lstStyle/>
              <a:p>
                <a:pPr>
                  <a:defRPr b="0" i="0" strike="noStrike" sz="1100" u="none">
                    <a:solidFill>
                      <a:srgbClr val="14213D"/>
                    </a:solidFill>
                    <a:latin typeface="Segoe UI"/>
                  </a:defRPr>
                </a:pPr>
              </a:p>
            </c:txPr>
            <c:showLegendKey val="0"/>
            <c:showVal val="1"/>
            <c:showCatName val="0"/>
            <c:showSerName val="0"/>
            <c:showPercent val="0"/>
            <c:showBubbleSize val="0"/>
            <c:showLeaderLines val="0"/>
          </c:dLbls>
          <c:cat>
            <c:multiLvlStrRef>
              <c:f>Sheet1!$A$2:$A$4</c:f>
              <c:multiLvlStrCache>
                <c:ptCount val="3"/>
                <c:lvl>
                  <c:pt idx="0">
                    <c:v>Keyword filter</c:v>
                  </c:pt>
                  <c:pt idx="1">
                    <c:v>Qalxan v1</c:v>
                  </c:pt>
                  <c:pt idx="2">
                    <c:v>Qalxan + Gemini</c:v>
                  </c:pt>
                </c:lvl>
              </c:multiLvlStrCache>
            </c:multiLvlStrRef>
          </c:cat>
          <c:val>
            <c:numRef>
              <c:f>Sheet1!$B$2:$B$4</c:f>
              <c:numCache>
                <c:formatCode>General</c:formatCode>
                <c:ptCount val="3"/>
                <c:pt idx="0">
                  <c:v>300</c:v>
                </c:pt>
                <c:pt idx="1">
                  <c:v>850</c:v>
                </c:pt>
                <c:pt idx="2">
                  <c:v>975</c:v>
                </c:pt>
              </c:numCache>
            </c:numRef>
          </c:val>
        </c:ser>
        <c:ser>
          <c:idx val="1"/>
          <c:order val="1"/>
          <c:tx>
            <c:strRef>
              <c:f>Sheet1!$C$1</c:f>
              <c:strCache>
                <c:ptCount val="1"/>
                <c:pt idx="0">
                  <c:v>False alarms</c:v>
                </c:pt>
              </c:strCache>
            </c:strRef>
          </c:tx>
          <c:spPr>
            <a:solidFill>
              <a:srgbClr val="E4002B"/>
            </a:solidFill>
            <a:effectLst/>
          </c:spPr>
          <c:invertIfNegative val="0"/>
          <c:dLbls>
            <c:numFmt formatCode="0&quot;.&quot;0&quot;%&quot;" sourceLinked="0"/>
            <c:txPr>
              <a:bodyPr/>
              <a:lstStyle/>
              <a:p>
                <a:pPr>
                  <a:defRPr b="0" i="0" strike="noStrike" sz="1100" u="none">
                    <a:solidFill>
                      <a:srgbClr val="14213D"/>
                    </a:solidFill>
                    <a:latin typeface="Segoe UI"/>
                  </a:defRPr>
                </a:pPr>
              </a:p>
            </c:txPr>
            <c:showLegendKey val="0"/>
            <c:showVal val="1"/>
            <c:showCatName val="0"/>
            <c:showSerName val="0"/>
            <c:showPercent val="0"/>
            <c:showBubbleSize val="0"/>
            <c:showLeaderLines val="0"/>
          </c:dLbls>
          <c:cat>
            <c:multiLvlStrRef>
              <c:f>Sheet1!$A$2:$A$4</c:f>
              <c:multiLvlStrCache>
                <c:ptCount val="3"/>
                <c:lvl>
                  <c:pt idx="0">
                    <c:v>Keyword filter</c:v>
                  </c:pt>
                  <c:pt idx="1">
                    <c:v>Qalxan v1</c:v>
                  </c:pt>
                  <c:pt idx="2">
                    <c:v>Qalxan + Gemini</c:v>
                  </c:pt>
                </c:lvl>
              </c:multiLvlStrCache>
            </c:multiLvlStrRef>
          </c:cat>
          <c:val>
            <c:numRef>
              <c:f>Sheet1!$C$2:$C$4</c:f>
              <c:numCache>
                <c:formatCode>General</c:formatCode>
                <c:ptCount val="3"/>
                <c:pt idx="0">
                  <c:v>133</c:v>
                </c:pt>
                <c:pt idx="1">
                  <c:v>33</c:v>
                </c:pt>
                <c:pt idx="2">
                  <c:v>0</c:v>
                </c:pt>
              </c:numCache>
            </c:numRef>
          </c:val>
        </c:ser>
        <c:dLbls>
          <c:numFmt formatCode="0&quot;.&quot;0&quot;%&quot;" sourceLinked="0"/>
          <c:txPr>
            <a:bodyPr/>
            <a:lstStyle/>
            <a:p>
              <a:pPr>
                <a:defRPr b="0" i="0" strike="noStrike" sz="1100" u="none">
                  <a:solidFill>
                    <a:srgbClr val="14213D"/>
                  </a:solidFill>
                  <a:latin typeface="Segoe U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Segoe UI"/>
              </a:defRPr>
            </a:pPr>
            <a:endParaRPr lang="en-US"/>
          </a:p>
        </c:txPr>
        <c:crossAx val="2094734552"/>
        <c:crosses val="autoZero"/>
        <c:auto val="1"/>
        <c:lblAlgn val="ctr"/>
        <c:noMultiLvlLbl val="1"/>
      </c:catAx>
      <c:valAx>
        <c:axId val="2094734552"/>
        <c:scaling>
          <c:orientation val="minMax"/>
          <c:max val="1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334155"/>
              </a:solidFill>
              <a:latin typeface="Segoe UI"/>
              <a:cs typeface="Segoe U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Scams caught</c:v>
                </c:pt>
              </c:strCache>
            </c:strRef>
          </c:tx>
          <c:spPr>
            <a:solidFill>
              <a:srgbClr val="00A862"/>
            </a:solidFill>
            <a:effectLst/>
          </c:spPr>
          <c:invertIfNegative val="0"/>
          <c:dLbls>
            <c:numFmt formatCode="0&quot;.&quot;0&quot;%&quot;" sourceLinked="0"/>
            <c:txPr>
              <a:bodyPr/>
              <a:lstStyle/>
              <a:p>
                <a:pPr>
                  <a:defRPr b="0" i="0" strike="noStrike" sz="1100" u="none">
                    <a:solidFill>
                      <a:srgbClr val="14213D"/>
                    </a:solidFill>
                    <a:latin typeface="Segoe UI"/>
                  </a:defRPr>
                </a:pPr>
              </a:p>
            </c:txPr>
            <c:showLegendKey val="0"/>
            <c:showVal val="1"/>
            <c:showCatName val="0"/>
            <c:showSerName val="0"/>
            <c:showPercent val="0"/>
            <c:showBubbleSize val="0"/>
            <c:showLeaderLines val="0"/>
          </c:dLbls>
          <c:cat>
            <c:multiLvlStrRef>
              <c:f>Sheet1!$A$2:$A$5</c:f>
              <c:multiLvlStrCache>
                <c:ptCount val="4"/>
                <c:lvl>
                  <c:pt idx="0">
                    <c:v>Keyword filter</c:v>
                  </c:pt>
                  <c:pt idx="1">
                    <c:v>Classic ML</c:v>
                  </c:pt>
                  <c:pt idx="2">
                    <c:v>Qalxan</c:v>
                  </c:pt>
                  <c:pt idx="3">
                    <c:v>Qalxan + Gemini</c:v>
                  </c:pt>
                </c:lvl>
              </c:multiLvlStrCache>
            </c:multiLvlStrRef>
          </c:cat>
          <c:val>
            <c:numRef>
              <c:f>Sheet1!$B$2:$B$5</c:f>
              <c:numCache>
                <c:formatCode>General</c:formatCode>
                <c:ptCount val="4"/>
                <c:pt idx="0">
                  <c:v>301</c:v>
                </c:pt>
                <c:pt idx="1">
                  <c:v>946</c:v>
                </c:pt>
                <c:pt idx="2">
                  <c:v>961</c:v>
                </c:pt>
                <c:pt idx="3">
                  <c:v>985</c:v>
                </c:pt>
              </c:numCache>
            </c:numRef>
          </c:val>
        </c:ser>
        <c:ser>
          <c:idx val="1"/>
          <c:order val="1"/>
          <c:tx>
            <c:strRef>
              <c:f>Sheet1!$C$1</c:f>
              <c:strCache>
                <c:ptCount val="1"/>
                <c:pt idx="0">
                  <c:v>False alarms on bank SMS</c:v>
                </c:pt>
              </c:strCache>
            </c:strRef>
          </c:tx>
          <c:spPr>
            <a:solidFill>
              <a:srgbClr val="E4002B"/>
            </a:solidFill>
            <a:effectLst/>
          </c:spPr>
          <c:invertIfNegative val="0"/>
          <c:dLbls>
            <c:numFmt formatCode="0&quot;.&quot;0&quot;%&quot;" sourceLinked="0"/>
            <c:txPr>
              <a:bodyPr/>
              <a:lstStyle/>
              <a:p>
                <a:pPr>
                  <a:defRPr b="0" i="0" strike="noStrike" sz="1100" u="none">
                    <a:solidFill>
                      <a:srgbClr val="14213D"/>
                    </a:solidFill>
                    <a:latin typeface="Segoe UI"/>
                  </a:defRPr>
                </a:pPr>
              </a:p>
            </c:txPr>
            <c:showLegendKey val="0"/>
            <c:showVal val="1"/>
            <c:showCatName val="0"/>
            <c:showSerName val="0"/>
            <c:showPercent val="0"/>
            <c:showBubbleSize val="0"/>
            <c:showLeaderLines val="0"/>
          </c:dLbls>
          <c:cat>
            <c:multiLvlStrRef>
              <c:f>Sheet1!$A$2:$A$5</c:f>
              <c:multiLvlStrCache>
                <c:ptCount val="4"/>
                <c:lvl>
                  <c:pt idx="0">
                    <c:v>Keyword filter</c:v>
                  </c:pt>
                  <c:pt idx="1">
                    <c:v>Classic ML</c:v>
                  </c:pt>
                  <c:pt idx="2">
                    <c:v>Qalxan</c:v>
                  </c:pt>
                  <c:pt idx="3">
                    <c:v>Qalxan + Gemini</c:v>
                  </c:pt>
                </c:lvl>
              </c:multiLvlStrCache>
            </c:multiLvlStrRef>
          </c:cat>
          <c:val>
            <c:numRef>
              <c:f>Sheet1!$C$2:$C$5</c:f>
              <c:numCache>
                <c:formatCode>General</c:formatCode>
                <c:ptCount val="4"/>
                <c:pt idx="0">
                  <c:v>0</c:v>
                </c:pt>
                <c:pt idx="1">
                  <c:v>188</c:v>
                </c:pt>
                <c:pt idx="2">
                  <c:v>0</c:v>
                </c:pt>
                <c:pt idx="3">
                  <c:v>0</c:v>
                </c:pt>
              </c:numCache>
            </c:numRef>
          </c:val>
        </c:ser>
        <c:dLbls>
          <c:numFmt formatCode="0&quot;.&quot;0&quot;%&quot;" sourceLinked="0"/>
          <c:txPr>
            <a:bodyPr/>
            <a:lstStyle/>
            <a:p>
              <a:pPr>
                <a:defRPr b="0" i="0" strike="noStrike" sz="1100" u="none">
                  <a:solidFill>
                    <a:srgbClr val="14213D"/>
                  </a:solidFill>
                  <a:latin typeface="Segoe U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Segoe UI"/>
              </a:defRPr>
            </a:pPr>
            <a:endParaRPr lang="en-US"/>
          </a:p>
        </c:txPr>
        <c:crossAx val="2094734552"/>
        <c:crosses val="autoZero"/>
        <c:auto val="1"/>
        <c:lblAlgn val="ctr"/>
        <c:noMultiLvlLbl val="1"/>
      </c:catAx>
      <c:valAx>
        <c:axId val="2094734552"/>
        <c:scaling>
          <c:orientation val="minMax"/>
          <c:max val="1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334155"/>
              </a:solidFill>
              <a:latin typeface="Segoe UI"/>
              <a:cs typeface="Segoe U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team La Furia Roja. Qalxan means shield in Azerbaijani. It is a scam campaign radar for mobile operators: it detects scam SMS in Azerbaijani, Russian and English, groups them into campaigns and lets the anti-fraud team stop them in one click. On the right is our working prototype catching a fake-bank campaign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scheme types officially warned about in Azerbaijan by the Electronic Security Service, the Ministry of Internal Affairs and banks. Operators fight them with keyword blocklists updated by hand after complaints: hours to days of delay. Scammers swap one letter (ə to e, a Cyrillic a inside Kapital) and the filter is blind. In our test of documented schemes, keyword filtering caught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Scammers send campaigns, not single messages. Qalxan reads every SMS like an analyst, catches the scheme whatever the wording, groups thousands of messages into a few campaigns and lets the operator block a campaign and warn everyone who already received it in one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users, mission and vision. The primary user is the operator's anti-fraud analyst; subscribers use the Telegram 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Normalization undoes evasion tricks; rule signals add domain knowledge (impersonated brand, lookalike links, requests for code, card or ID, AnyDesk); our own model, character and word n-grams plus signals into logistic regression trained by us, decides 97.6% of messages in about 0.3 ms. Only the grey zone, 2.4%, goes to Gemini for a second opinion. If Gemini is unavailable, the model's verdict 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prototype: FastAPI backend, live dashboard, campaign actions, Telegram bot, running on a laptop. A fake-bank campaign enters the network; within seconds Qalxan shows one campaign card with the impersonated brand, domains and rate. It caught all 54 scam SMS that arrived; the keyword filter caught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1: 70 SMS, 40 scams reconstructed from official warnings about real Azerbaijani campaigns plus 30 genuine-looking SMS. Keyword filter 30% caught with 13% false alarms; our first version 85% with 3.3%; final with Gemini 97.5% with zero false alarms. The final number is optimistic because it was measured on the same set that revealed the failures; 85% is the unbiased figure. Test 2: 873 held-out SMS, phrasings never in training, two scheme types only in the test: keyword filter 30.1%, classic ML 94.6% but 18.8% false alarms on bank SMS, Qalxan 96.1%, with Gemini 98.5%, zero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1 missed every unseen scheme that asks for data instead of a click: tell us the 16 digits and the 3 on the back, install AnyDesk, send a passport photo. The model was confidently wrong, so Gemini was never asked. We added risk signals that always trigger a second opinion: 85% to 97.5%. It also flagged a genuine payment alert to NETFLIX.COM; merchants are now trusted: false alarms 3.3% to 0%. Still open: an investment pitch with only a Telegram handle, and code theft worded almost like a real OTP 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consumers lost 442 billion dollars to scams in one year across 42 countries; 57% of adults met a scam and 23% lost money (Global Anti-Scam Alliance and Feedzai, 2025). The market: operators already spend about 3 billion dollars a year on SMS firewalls; estimates for 2024-25 range from 2.7 to 3.6 billion. Our beachhead: Azerbaijan, 12.3 million mobile connections at the end of 2025 across Azercell, Bakcell and 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operator buys an annual on-premise license priced by subscriber base, plus setup and support; the buyer is the head of fraud or CTO. Banks, Azerpost and marketplaces subscribe to real-time impersonation alerts for faster takedowns. The operator can bundle protection into a tariff as a value-added service with revenue share. Unit economics: about 0.3 ms per SMS on CPU, no API cost for 97.6% of traffic. Pricing will be validated in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Done today: working prototype, our own model, two test sets, dashboard and Telegram bot. Month 1: pilot with one operator on subscriber-forwarded reports. Months 2-3: shadow mode on A2P traffic, retrain on real data, measure time-to-block. Months 4-6: paid license and brand protection feed. 2027: Central Asia, Türkiye, GCC and voice-call scam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Disclosure in full: our own TF-IDF and logistic regression model trained during the hackathon; Google Gemini flash-lite / flash for grey-zone second opinions; Claude used as a coding assistant; 2,714 synthetic SMS from our templates and a 70-SMS test reconstructed from official warnings; no real subscriber data; FastAPI, scikit-learn, google-genai, aiogram, matplotlib.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slide: replace names, roles and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 and to show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6400800"/>
            <a:ext cx="5486400" cy="274320"/>
          </a:xfrm>
          <a:prstGeom prst="rect">
            <a:avLst/>
          </a:prstGeom>
          <a:noFill/>
          <a:ln/>
        </p:spPr>
        <p:txBody>
          <a:bodyPr wrap="square" lIns="0" tIns="0" rIns="0" bIns="0"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Qalxan · La Furia Roja</a:t>
            </a:r>
            <a:endParaRPr lang="en-US" sz="1000" dirty="0"/>
          </a:p>
        </p:txBody>
      </p:sp>
      <p:sp>
        <p:nvSpPr>
          <p:cNvPr id="25" name="Slide Number Placeholder 0"/>
          <p:cNvSpPr>
            <a:spLocks noGrp="1"/>
          </p:cNvSpPr>
          <p:nvPr>
            <p:ph type="sldNum" sz="quarter" idx="4294967295"/>
          </p:nvPr>
        </p:nvSpPr>
        <p:spPr>
          <a:xfrm>
            <a:off x="1091153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Segoe UI"/>
                <a:ea typeface="Segoe UI"/>
                <a:cs typeface="Segoe U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731520"/>
            <a:ext cx="8229600" cy="274320"/>
          </a:xfrm>
          <a:prstGeom prst="rect">
            <a:avLst/>
          </a:prstGeom>
          <a:noFill/>
          <a:ln/>
        </p:spPr>
        <p:txBody>
          <a:bodyPr wrap="square" lIns="0" tIns="0" rIns="0" bIns="0" rtlCol="0" anchor="t"/>
          <a:lstStyle/>
          <a:p>
            <a:pPr indent="0" marL="0">
              <a:spcAft>
                <a:spcPts val="400"/>
              </a:spcAft>
              <a:buNone/>
            </a:pPr>
            <a:r>
              <a:rPr lang="en-US" sz="1100" b="1" spc="150" kern="0" dirty="0">
                <a:solidFill>
                  <a:srgbClr val="0092BC"/>
                </a:solidFill>
                <a:latin typeface="Segoe UI" pitchFamily="34" charset="0"/>
                <a:ea typeface="Segoe UI" pitchFamily="34" charset="-122"/>
                <a:cs typeface="Segoe UI" pitchFamily="34" charset="-120"/>
              </a:rPr>
              <a:t>NEUROBRIDGE.SI BAKU 2026  ·  AI ENTERPRISE SOLUTIONS</a:t>
            </a:r>
            <a:endParaRPr lang="en-US" sz="1100" dirty="0"/>
          </a:p>
        </p:txBody>
      </p:sp>
      <p:sp>
        <p:nvSpPr>
          <p:cNvPr id="3" name="Text 1"/>
          <p:cNvSpPr txBox="1"/>
          <p:nvPr/>
        </p:nvSpPr>
        <p:spPr>
          <a:xfrm>
            <a:off x="731520" y="1508760"/>
            <a:ext cx="5303520" cy="1234440"/>
          </a:xfrm>
          <a:prstGeom prst="rect">
            <a:avLst/>
          </a:prstGeom>
          <a:noFill/>
          <a:ln/>
        </p:spPr>
        <p:txBody>
          <a:bodyPr wrap="square" lIns="0" tIns="0" rIns="0" bIns="0" rtlCol="0" anchor="ctr"/>
          <a:lstStyle/>
          <a:p>
            <a:pPr indent="0" marL="0">
              <a:buNone/>
            </a:pPr>
            <a:r>
              <a:rPr lang="en-US" sz="7600" b="1" dirty="0">
                <a:solidFill>
                  <a:srgbClr val="14213D"/>
                </a:solidFill>
                <a:latin typeface="Georgia" pitchFamily="34" charset="0"/>
                <a:ea typeface="Georgia" pitchFamily="34" charset="-122"/>
                <a:cs typeface="Georgia" pitchFamily="34" charset="-120"/>
              </a:rPr>
              <a:t>Qalxan</a:t>
            </a:r>
            <a:endParaRPr lang="en-US" sz="7600" dirty="0"/>
          </a:p>
        </p:txBody>
      </p:sp>
      <p:sp>
        <p:nvSpPr>
          <p:cNvPr id="4" name="Text 2"/>
          <p:cNvSpPr txBox="1"/>
          <p:nvPr/>
        </p:nvSpPr>
        <p:spPr>
          <a:xfrm>
            <a:off x="731520" y="2834640"/>
            <a:ext cx="4937760" cy="868680"/>
          </a:xfrm>
          <a:prstGeom prst="rect">
            <a:avLst/>
          </a:prstGeom>
          <a:noFill/>
          <a:ln/>
        </p:spPr>
        <p:txBody>
          <a:bodyPr wrap="square" lIns="0" tIns="0" rIns="0" bIns="0" rtlCol="0" anchor="t"/>
          <a:lstStyle/>
          <a:p>
            <a:pPr indent="0" marL="0">
              <a:spcAft>
                <a:spcPts val="400"/>
              </a:spcAft>
              <a:buNone/>
            </a:pPr>
            <a:r>
              <a:rPr lang="en-US" sz="2200" dirty="0">
                <a:solidFill>
                  <a:srgbClr val="14213D"/>
                </a:solidFill>
                <a:latin typeface="Segoe UI" pitchFamily="34" charset="0"/>
                <a:ea typeface="Segoe UI" pitchFamily="34" charset="-122"/>
                <a:cs typeface="Segoe UI" pitchFamily="34" charset="-120"/>
              </a:rPr>
              <a:t>Stops scam SMS campaigns before they reach your subscribers</a:t>
            </a:r>
            <a:endParaRPr lang="en-US" sz="2200" dirty="0"/>
          </a:p>
        </p:txBody>
      </p:sp>
      <p:sp>
        <p:nvSpPr>
          <p:cNvPr id="5" name="Text 3"/>
          <p:cNvSpPr txBox="1"/>
          <p:nvPr/>
        </p:nvSpPr>
        <p:spPr>
          <a:xfrm>
            <a:off x="731520" y="3794760"/>
            <a:ext cx="4846320" cy="868680"/>
          </a:xfrm>
          <a:prstGeom prst="rect">
            <a:avLst/>
          </a:prstGeom>
          <a:noFill/>
          <a:ln/>
        </p:spPr>
        <p:txBody>
          <a:bodyPr wrap="square" lIns="0" tIns="0" rIns="0" bIns="0" rtlCol="0" anchor="t"/>
          <a:lstStyle/>
          <a:p>
            <a:pPr indent="0" marL="0">
              <a:spcAft>
                <a:spcPts val="400"/>
              </a:spcAft>
              <a:buNone/>
            </a:pPr>
            <a:r>
              <a:rPr lang="en-US" sz="1450" dirty="0">
                <a:solidFill>
                  <a:srgbClr val="64748B"/>
                </a:solidFill>
                <a:latin typeface="Segoe UI" pitchFamily="34" charset="0"/>
                <a:ea typeface="Segoe UI" pitchFamily="34" charset="-122"/>
                <a:cs typeface="Segoe UI" pitchFamily="34" charset="-120"/>
              </a:rPr>
              <a:t>Detects scam SMS in Azerbaijani, Russian and English, groups them into campaigns and lets the operator block them in one click.</a:t>
            </a:r>
            <a:endParaRPr lang="en-US" sz="1450" dirty="0"/>
          </a:p>
        </p:txBody>
      </p:sp>
      <p:sp>
        <p:nvSpPr>
          <p:cNvPr id="6" name="Text 4"/>
          <p:cNvSpPr txBox="1"/>
          <p:nvPr/>
        </p:nvSpPr>
        <p:spPr>
          <a:xfrm>
            <a:off x="731520" y="5074920"/>
            <a:ext cx="4937760" cy="457200"/>
          </a:xfrm>
          <a:prstGeom prst="rect">
            <a:avLst/>
          </a:prstGeom>
          <a:noFill/>
          <a:ln/>
        </p:spPr>
        <p:txBody>
          <a:bodyPr wrap="square" lIns="0" tIns="0" rIns="0" bIns="0" rtlCol="0" anchor="ctr"/>
          <a:lstStyle/>
          <a:p>
            <a:pPr indent="0" marL="0">
              <a:buNone/>
            </a:pPr>
            <a:r>
              <a:rPr lang="en-US" sz="2200" b="1" dirty="0">
                <a:solidFill>
                  <a:srgbClr val="E4002B"/>
                </a:solidFill>
                <a:latin typeface="Georgia" pitchFamily="34" charset="0"/>
                <a:ea typeface="Georgia" pitchFamily="34" charset="-122"/>
                <a:cs typeface="Georgia" pitchFamily="34" charset="-120"/>
              </a:rPr>
              <a:t>Team La Furia Roja</a:t>
            </a:r>
            <a:endParaRPr lang="en-US" sz="2200" dirty="0"/>
          </a:p>
        </p:txBody>
      </p:sp>
      <p:sp>
        <p:nvSpPr>
          <p:cNvPr id="7" name="Text 5"/>
          <p:cNvSpPr txBox="1"/>
          <p:nvPr/>
        </p:nvSpPr>
        <p:spPr>
          <a:xfrm>
            <a:off x="731520" y="5577840"/>
            <a:ext cx="4937760" cy="32004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Segoe UI" pitchFamily="34" charset="0"/>
                <a:ea typeface="Segoe UI" pitchFamily="34" charset="-122"/>
                <a:cs typeface="Segoe UI" pitchFamily="34" charset="-120"/>
              </a:rPr>
              <a:t>Qalxan means «shield» in Azerbaijani</a:t>
            </a:r>
            <a:endParaRPr lang="en-US" sz="1200" dirty="0"/>
          </a:p>
        </p:txBody>
      </p:sp>
      <p:sp>
        <p:nvSpPr>
          <p:cNvPr id="8" name="Shape 6"/>
          <p:cNvSpPr/>
          <p:nvPr/>
        </p:nvSpPr>
        <p:spPr>
          <a:xfrm>
            <a:off x="6227064" y="1472184"/>
            <a:ext cx="5239512" cy="3154680"/>
          </a:xfrm>
          <a:prstGeom prst="rect">
            <a:avLst/>
          </a:prstGeom>
          <a:solidFill>
            <a:srgbClr val="FFFFFF"/>
          </a:solidFill>
          <a:ln w="12700">
            <a:solidFill>
              <a:srgbClr val="CBD5E1"/>
            </a:solidFill>
            <a:prstDash val="solid"/>
          </a:ln>
          <a:effectLst>
            <a:outerShdw sx="100000" sy="100000" kx="0" ky="0" algn="bl" rotWithShape="0" blurRad="152400" dist="50800" dir="5400000">
              <a:srgbClr val="94A3B8">
                <a:alpha val="35000"/>
              </a:srgbClr>
            </a:outerShdw>
          </a:effectLst>
        </p:spPr>
      </p:sp>
      <p:pic>
        <p:nvPicPr>
          <p:cNvPr id="9" name="Image 0" descr="C:\Users\Farid\AppData\Local\Temp\claude\C--Users-Farid-Desktop-NeuroBridge\58c3fc73-66a9-429d-bd8b-adfbe2495c36\scratchpad\deck\dash_top.png">    </p:cNvPr>
          <p:cNvPicPr>
            <a:picLocks noChangeAspect="1"/>
          </p:cNvPicPr>
          <p:nvPr/>
        </p:nvPicPr>
        <p:blipFill>
          <a:blip r:embed="rId1"/>
          <a:stretch>
            <a:fillRect/>
          </a:stretch>
        </p:blipFill>
        <p:spPr>
          <a:xfrm>
            <a:off x="6263640" y="1508760"/>
            <a:ext cx="5166360" cy="3081528"/>
          </a:xfrm>
          <a:prstGeom prst="rect">
            <a:avLst/>
          </a:prstGeom>
        </p:spPr>
      </p:pic>
      <p:sp>
        <p:nvSpPr>
          <p:cNvPr id="10" name="Text 7"/>
          <p:cNvSpPr txBox="1"/>
          <p:nvPr/>
        </p:nvSpPr>
        <p:spPr>
          <a:xfrm>
            <a:off x="6263640" y="4754880"/>
            <a:ext cx="5166360" cy="32004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Segoe UI" pitchFamily="34" charset="0"/>
                <a:ea typeface="Segoe UI" pitchFamily="34" charset="-122"/>
                <a:cs typeface="Segoe UI" pitchFamily="34" charset="-120"/>
              </a:rPr>
              <a:t>Working prototype: 54 of 54 scam SMS caught live, keyword filter 17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0092BC"/>
                </a:solidFill>
                <a:latin typeface="Segoe UI" pitchFamily="34" charset="0"/>
                <a:ea typeface="Segoe UI" pitchFamily="34" charset="-122"/>
                <a:cs typeface="Segoe UI" pitchFamily="34" charset="-120"/>
              </a:rPr>
              <a:t>THE PROBLEM</a:t>
            </a:r>
            <a:endParaRPr lang="en-US" sz="1100" dirty="0"/>
          </a:p>
        </p:txBody>
      </p:sp>
      <p:sp>
        <p:nvSpPr>
          <p:cNvPr id="3" name="Text 1"/>
          <p:cNvSpPr txBox="1"/>
          <p:nvPr/>
        </p:nvSpPr>
        <p:spPr>
          <a:xfrm>
            <a:off x="731520" y="777240"/>
            <a:ext cx="10728655" cy="731520"/>
          </a:xfrm>
          <a:prstGeom prst="rect">
            <a:avLst/>
          </a:prstGeom>
          <a:noFill/>
          <a:ln/>
        </p:spPr>
        <p:txBody>
          <a:bodyPr wrap="square" lIns="0" tIns="0" rIns="0" bIns="0" rtlCol="0" anchor="t"/>
          <a:lstStyle/>
          <a:p>
            <a:pPr indent="0" marL="0">
              <a:buNone/>
            </a:pPr>
            <a:r>
              <a:rPr lang="en-US" sz="3000" b="1" dirty="0">
                <a:solidFill>
                  <a:srgbClr val="14213D"/>
                </a:solidFill>
                <a:latin typeface="Georgia" pitchFamily="34" charset="0"/>
                <a:ea typeface="Georgia" pitchFamily="34" charset="-122"/>
                <a:cs typeface="Georgia" pitchFamily="34" charset="-120"/>
              </a:rPr>
              <a:t>Scam SMS reach thousands before anyone reacts</a:t>
            </a:r>
            <a:endParaRPr lang="en-US" sz="3000" dirty="0"/>
          </a:p>
        </p:txBody>
      </p:sp>
      <p:sp>
        <p:nvSpPr>
          <p:cNvPr id="4" name="Shape 2"/>
          <p:cNvSpPr/>
          <p:nvPr/>
        </p:nvSpPr>
        <p:spPr>
          <a:xfrm>
            <a:off x="731520" y="1828800"/>
            <a:ext cx="5852160" cy="822960"/>
          </a:xfrm>
          <a:prstGeom prst="roundRect">
            <a:avLst>
              <a:gd name="adj" fmla="val 8889"/>
            </a:avLst>
          </a:prstGeom>
          <a:solidFill>
            <a:srgbClr val="FDECEF"/>
          </a:solidFill>
          <a:ln w="12700">
            <a:solidFill>
              <a:srgbClr val="FDECEF"/>
            </a:solidFill>
            <a:prstDash val="solid"/>
          </a:ln>
        </p:spPr>
      </p:sp>
      <p:sp>
        <p:nvSpPr>
          <p:cNvPr id="5" name="Text 3"/>
          <p:cNvSpPr txBox="1"/>
          <p:nvPr/>
        </p:nvSpPr>
        <p:spPr>
          <a:xfrm>
            <a:off x="960120" y="1920240"/>
            <a:ext cx="2743200" cy="228600"/>
          </a:xfrm>
          <a:prstGeom prst="rect">
            <a:avLst/>
          </a:prstGeom>
          <a:noFill/>
          <a:ln/>
        </p:spPr>
        <p:txBody>
          <a:bodyPr wrap="square" lIns="0" tIns="0" rIns="0" bIns="0" rtlCol="0" anchor="t"/>
          <a:lstStyle/>
          <a:p>
            <a:pPr indent="0" marL="0">
              <a:spcAft>
                <a:spcPts val="400"/>
              </a:spcAft>
              <a:buNone/>
            </a:pPr>
            <a:r>
              <a:rPr lang="en-US" sz="1050" dirty="0">
                <a:solidFill>
                  <a:srgbClr val="64748B"/>
                </a:solidFill>
                <a:latin typeface="Segoe UI" pitchFamily="34" charset="0"/>
                <a:ea typeface="Segoe UI" pitchFamily="34" charset="-122"/>
                <a:cs typeface="Segoe UI" pitchFamily="34" charset="-120"/>
              </a:rPr>
              <a:t>+994 70 8•• •• ••</a:t>
            </a:r>
            <a:endParaRPr lang="en-US" sz="1050" dirty="0"/>
          </a:p>
        </p:txBody>
      </p:sp>
      <p:sp>
        <p:nvSpPr>
          <p:cNvPr id="6" name="Text 4"/>
          <p:cNvSpPr txBox="1"/>
          <p:nvPr/>
        </p:nvSpPr>
        <p:spPr>
          <a:xfrm>
            <a:off x="960120" y="2176272"/>
            <a:ext cx="5486400" cy="411480"/>
          </a:xfrm>
          <a:prstGeom prst="rect">
            <a:avLst/>
          </a:prstGeom>
          <a:noFill/>
          <a:ln/>
        </p:spPr>
        <p:txBody>
          <a:bodyPr wrap="square" lIns="0" tIns="0" rIns="0" bIns="0" rtlCol="0" anchor="t"/>
          <a:lstStyle/>
          <a:p>
            <a:pPr indent="0" marL="0">
              <a:spcAft>
                <a:spcPts val="400"/>
              </a:spcAft>
              <a:buNone/>
            </a:pPr>
            <a:r>
              <a:rPr lang="en-US" sz="1400" dirty="0">
                <a:solidFill>
                  <a:srgbClr val="14213D"/>
                </a:solidFill>
                <a:latin typeface="Segoe UI" pitchFamily="34" charset="0"/>
                <a:ea typeface="Segoe UI" pitchFamily="34" charset="-122"/>
                <a:cs typeface="Segoe UI" pitchFamily="34" charset="-120"/>
              </a:rPr>
              <a:t>Kapital Bank: Kartınız bloklanıb. Bərpa üçün keçid edin: kapitalbank-az.online</a:t>
            </a:r>
            <a:endParaRPr lang="en-US" sz="1400" dirty="0"/>
          </a:p>
        </p:txBody>
      </p:sp>
      <p:sp>
        <p:nvSpPr>
          <p:cNvPr id="7" name="Shape 5"/>
          <p:cNvSpPr/>
          <p:nvPr/>
        </p:nvSpPr>
        <p:spPr>
          <a:xfrm>
            <a:off x="731520" y="2816352"/>
            <a:ext cx="5852160" cy="822960"/>
          </a:xfrm>
          <a:prstGeom prst="roundRect">
            <a:avLst>
              <a:gd name="adj" fmla="val 8889"/>
            </a:avLst>
          </a:prstGeom>
          <a:solidFill>
            <a:srgbClr val="FDECEF"/>
          </a:solidFill>
          <a:ln w="12700">
            <a:solidFill>
              <a:srgbClr val="FDECEF"/>
            </a:solidFill>
            <a:prstDash val="solid"/>
          </a:ln>
        </p:spPr>
      </p:sp>
      <p:sp>
        <p:nvSpPr>
          <p:cNvPr id="8" name="Text 6"/>
          <p:cNvSpPr txBox="1"/>
          <p:nvPr/>
        </p:nvSpPr>
        <p:spPr>
          <a:xfrm>
            <a:off x="960120" y="2907792"/>
            <a:ext cx="2743200" cy="228600"/>
          </a:xfrm>
          <a:prstGeom prst="rect">
            <a:avLst/>
          </a:prstGeom>
          <a:noFill/>
          <a:ln/>
        </p:spPr>
        <p:txBody>
          <a:bodyPr wrap="square" lIns="0" tIns="0" rIns="0" bIns="0" rtlCol="0" anchor="t"/>
          <a:lstStyle/>
          <a:p>
            <a:pPr indent="0" marL="0">
              <a:spcAft>
                <a:spcPts val="400"/>
              </a:spcAft>
              <a:buNone/>
            </a:pPr>
            <a:r>
              <a:rPr lang="en-US" sz="1050" dirty="0">
                <a:solidFill>
                  <a:srgbClr val="64748B"/>
                </a:solidFill>
                <a:latin typeface="Segoe UI" pitchFamily="34" charset="0"/>
                <a:ea typeface="Segoe UI" pitchFamily="34" charset="-122"/>
                <a:cs typeface="Segoe UI" pitchFamily="34" charset="-120"/>
              </a:rPr>
              <a:t>+44 7•••• ••••</a:t>
            </a:r>
            <a:endParaRPr lang="en-US" sz="1050" dirty="0"/>
          </a:p>
        </p:txBody>
      </p:sp>
      <p:sp>
        <p:nvSpPr>
          <p:cNvPr id="9" name="Text 7"/>
          <p:cNvSpPr txBox="1"/>
          <p:nvPr/>
        </p:nvSpPr>
        <p:spPr>
          <a:xfrm>
            <a:off x="960120" y="3163824"/>
            <a:ext cx="5486400" cy="411480"/>
          </a:xfrm>
          <a:prstGeom prst="rect">
            <a:avLst/>
          </a:prstGeom>
          <a:noFill/>
          <a:ln/>
        </p:spPr>
        <p:txBody>
          <a:bodyPr wrap="square" lIns="0" tIns="0" rIns="0" bIns="0" rtlCol="0" anchor="t"/>
          <a:lstStyle/>
          <a:p>
            <a:pPr indent="0" marL="0">
              <a:spcAft>
                <a:spcPts val="400"/>
              </a:spcAft>
              <a:buNone/>
            </a:pPr>
            <a:r>
              <a:rPr lang="en-US" sz="1400" dirty="0">
                <a:solidFill>
                  <a:srgbClr val="14213D"/>
                </a:solidFill>
                <a:latin typeface="Segoe UI" pitchFamily="34" charset="0"/>
                <a:ea typeface="Segoe UI" pitchFamily="34" charset="-122"/>
                <a:cs typeface="Segoe UI" pitchFamily="34" charset="-120"/>
              </a:rPr>
              <a:t>Azerpost: 10.2 AZN gömrük rüsumu ödənilməyib: azerpost-gomruk.com</a:t>
            </a:r>
            <a:endParaRPr lang="en-US" sz="1400" dirty="0"/>
          </a:p>
        </p:txBody>
      </p:sp>
      <p:sp>
        <p:nvSpPr>
          <p:cNvPr id="10" name="Shape 8"/>
          <p:cNvSpPr/>
          <p:nvPr/>
        </p:nvSpPr>
        <p:spPr>
          <a:xfrm>
            <a:off x="731520" y="3803904"/>
            <a:ext cx="5852160" cy="822960"/>
          </a:xfrm>
          <a:prstGeom prst="roundRect">
            <a:avLst>
              <a:gd name="adj" fmla="val 8889"/>
            </a:avLst>
          </a:prstGeom>
          <a:solidFill>
            <a:srgbClr val="FDECEF"/>
          </a:solidFill>
          <a:ln w="12700">
            <a:solidFill>
              <a:srgbClr val="FDECEF"/>
            </a:solidFill>
            <a:prstDash val="solid"/>
          </a:ln>
        </p:spPr>
      </p:sp>
      <p:sp>
        <p:nvSpPr>
          <p:cNvPr id="11" name="Text 9"/>
          <p:cNvSpPr txBox="1"/>
          <p:nvPr/>
        </p:nvSpPr>
        <p:spPr>
          <a:xfrm>
            <a:off x="960120" y="3895344"/>
            <a:ext cx="2743200" cy="228600"/>
          </a:xfrm>
          <a:prstGeom prst="rect">
            <a:avLst/>
          </a:prstGeom>
          <a:noFill/>
          <a:ln/>
        </p:spPr>
        <p:txBody>
          <a:bodyPr wrap="square" lIns="0" tIns="0" rIns="0" bIns="0" rtlCol="0" anchor="t"/>
          <a:lstStyle/>
          <a:p>
            <a:pPr indent="0" marL="0">
              <a:spcAft>
                <a:spcPts val="400"/>
              </a:spcAft>
              <a:buNone/>
            </a:pPr>
            <a:r>
              <a:rPr lang="en-US" sz="1050" dirty="0">
                <a:solidFill>
                  <a:srgbClr val="64748B"/>
                </a:solidFill>
                <a:latin typeface="Segoe UI" pitchFamily="34" charset="0"/>
                <a:ea typeface="Segoe UI" pitchFamily="34" charset="-122"/>
                <a:cs typeface="Segoe UI" pitchFamily="34" charset="-120"/>
              </a:rPr>
              <a:t>+994 55 •••</a:t>
            </a:r>
            <a:endParaRPr lang="en-US" sz="1050" dirty="0"/>
          </a:p>
        </p:txBody>
      </p:sp>
      <p:sp>
        <p:nvSpPr>
          <p:cNvPr id="12" name="Text 10"/>
          <p:cNvSpPr txBox="1"/>
          <p:nvPr/>
        </p:nvSpPr>
        <p:spPr>
          <a:xfrm>
            <a:off x="960120" y="4151376"/>
            <a:ext cx="5486400" cy="411480"/>
          </a:xfrm>
          <a:prstGeom prst="rect">
            <a:avLst/>
          </a:prstGeom>
          <a:noFill/>
          <a:ln/>
        </p:spPr>
        <p:txBody>
          <a:bodyPr wrap="square" lIns="0" tIns="0" rIns="0" bIns="0" rtlCol="0" anchor="t"/>
          <a:lstStyle/>
          <a:p>
            <a:pPr indent="0" marL="0">
              <a:spcAft>
                <a:spcPts val="400"/>
              </a:spcAft>
              <a:buNone/>
            </a:pPr>
            <a:r>
              <a:rPr lang="en-US" sz="1400" dirty="0">
                <a:solidFill>
                  <a:srgbClr val="14213D"/>
                </a:solidFill>
                <a:latin typeface="Segoe UI" pitchFamily="34" charset="0"/>
                <a:ea typeface="Segoe UI" pitchFamily="34" charset="-122"/>
                <a:cs typeface="Segoe UI" pitchFamily="34" charset="-120"/>
              </a:rPr>
              <a:t>Мама, это мой новый номер. Срочно нужно 300 AZN…</a:t>
            </a:r>
            <a:endParaRPr lang="en-US" sz="1400" dirty="0"/>
          </a:p>
        </p:txBody>
      </p:sp>
      <p:sp>
        <p:nvSpPr>
          <p:cNvPr id="13" name="Shape 11"/>
          <p:cNvSpPr/>
          <p:nvPr/>
        </p:nvSpPr>
        <p:spPr>
          <a:xfrm>
            <a:off x="731520" y="4791456"/>
            <a:ext cx="5852160" cy="822960"/>
          </a:xfrm>
          <a:prstGeom prst="roundRect">
            <a:avLst>
              <a:gd name="adj" fmla="val 8889"/>
            </a:avLst>
          </a:prstGeom>
          <a:solidFill>
            <a:srgbClr val="FDECEF"/>
          </a:solidFill>
          <a:ln w="12700">
            <a:solidFill>
              <a:srgbClr val="FDECEF"/>
            </a:solidFill>
            <a:prstDash val="solid"/>
          </a:ln>
        </p:spPr>
      </p:sp>
      <p:sp>
        <p:nvSpPr>
          <p:cNvPr id="14" name="Text 12"/>
          <p:cNvSpPr txBox="1"/>
          <p:nvPr/>
        </p:nvSpPr>
        <p:spPr>
          <a:xfrm>
            <a:off x="960120" y="4882896"/>
            <a:ext cx="2743200" cy="228600"/>
          </a:xfrm>
          <a:prstGeom prst="rect">
            <a:avLst/>
          </a:prstGeom>
          <a:noFill/>
          <a:ln/>
        </p:spPr>
        <p:txBody>
          <a:bodyPr wrap="square" lIns="0" tIns="0" rIns="0" bIns="0" rtlCol="0" anchor="t"/>
          <a:lstStyle/>
          <a:p>
            <a:pPr indent="0" marL="0">
              <a:spcAft>
                <a:spcPts val="400"/>
              </a:spcAft>
              <a:buNone/>
            </a:pPr>
            <a:r>
              <a:rPr lang="en-US" sz="1050" dirty="0">
                <a:solidFill>
                  <a:srgbClr val="64748B"/>
                </a:solidFill>
                <a:latin typeface="Segoe UI" pitchFamily="34" charset="0"/>
                <a:ea typeface="Segoe UI" pitchFamily="34" charset="-122"/>
                <a:cs typeface="Segoe UI" pitchFamily="34" charset="-120"/>
              </a:rPr>
              <a:t>WhatsApp</a:t>
            </a:r>
            <a:endParaRPr lang="en-US" sz="1050" dirty="0"/>
          </a:p>
        </p:txBody>
      </p:sp>
      <p:sp>
        <p:nvSpPr>
          <p:cNvPr id="15" name="Text 13"/>
          <p:cNvSpPr txBox="1"/>
          <p:nvPr/>
        </p:nvSpPr>
        <p:spPr>
          <a:xfrm>
            <a:off x="960120" y="5138928"/>
            <a:ext cx="5486400" cy="411480"/>
          </a:xfrm>
          <a:prstGeom prst="rect">
            <a:avLst/>
          </a:prstGeom>
          <a:noFill/>
          <a:ln/>
        </p:spPr>
        <p:txBody>
          <a:bodyPr wrap="square" lIns="0" tIns="0" rIns="0" bIns="0" rtlCol="0" anchor="t"/>
          <a:lstStyle/>
          <a:p>
            <a:pPr indent="0" marL="0">
              <a:spcAft>
                <a:spcPts val="400"/>
              </a:spcAft>
              <a:buNone/>
            </a:pPr>
            <a:r>
              <a:rPr lang="en-US" sz="1400" dirty="0">
                <a:solidFill>
                  <a:srgbClr val="14213D"/>
                </a:solidFill>
                <a:latin typeface="Segoe UI" pitchFamily="34" charset="0"/>
                <a:ea typeface="Segoe UI" pitchFamily="34" charset="-122"/>
                <a:cs typeface="Segoe UI" pitchFamily="34" charset="-120"/>
              </a:rPr>
              <a:t>Tap.az: Alıcı ödəniş etdi. Kartı təsdiqləyin: tapaz-pay.top</a:t>
            </a:r>
            <a:endParaRPr lang="en-US" sz="1400" dirty="0"/>
          </a:p>
        </p:txBody>
      </p:sp>
      <p:sp>
        <p:nvSpPr>
          <p:cNvPr id="16" name="Text 14"/>
          <p:cNvSpPr txBox="1"/>
          <p:nvPr/>
        </p:nvSpPr>
        <p:spPr>
          <a:xfrm>
            <a:off x="7178040" y="1783080"/>
            <a:ext cx="4114800" cy="1143000"/>
          </a:xfrm>
          <a:prstGeom prst="rect">
            <a:avLst/>
          </a:prstGeom>
          <a:noFill/>
          <a:ln/>
        </p:spPr>
        <p:txBody>
          <a:bodyPr wrap="square" lIns="0" tIns="0" rIns="0" bIns="0" rtlCol="0" anchor="ctr"/>
          <a:lstStyle/>
          <a:p>
            <a:pPr indent="0" marL="0">
              <a:buNone/>
            </a:pPr>
            <a:r>
              <a:rPr lang="en-US" sz="8000" b="1" dirty="0">
                <a:solidFill>
                  <a:srgbClr val="E4002B"/>
                </a:solidFill>
                <a:latin typeface="Georgia" pitchFamily="34" charset="0"/>
                <a:ea typeface="Georgia" pitchFamily="34" charset="-122"/>
                <a:cs typeface="Georgia" pitchFamily="34" charset="-120"/>
              </a:rPr>
              <a:t>30%</a:t>
            </a:r>
            <a:endParaRPr lang="en-US" sz="8000" dirty="0"/>
          </a:p>
        </p:txBody>
      </p:sp>
      <p:sp>
        <p:nvSpPr>
          <p:cNvPr id="17" name="Text 15"/>
          <p:cNvSpPr txBox="1"/>
          <p:nvPr/>
        </p:nvSpPr>
        <p:spPr>
          <a:xfrm>
            <a:off x="7223760" y="2926080"/>
            <a:ext cx="4206240" cy="685800"/>
          </a:xfrm>
          <a:prstGeom prst="rect">
            <a:avLst/>
          </a:prstGeom>
          <a:noFill/>
          <a:ln/>
        </p:spPr>
        <p:txBody>
          <a:bodyPr wrap="square" lIns="0" tIns="0" rIns="0" bIns="0" rtlCol="0" anchor="t"/>
          <a:lstStyle/>
          <a:p>
            <a:pPr indent="0" marL="0">
              <a:spcAft>
                <a:spcPts val="400"/>
              </a:spcAft>
              <a:buNone/>
            </a:pPr>
            <a:r>
              <a:rPr lang="en-US" sz="1800" dirty="0">
                <a:solidFill>
                  <a:srgbClr val="14213D"/>
                </a:solidFill>
                <a:latin typeface="Segoe UI" pitchFamily="34" charset="0"/>
                <a:ea typeface="Segoe UI" pitchFamily="34" charset="-122"/>
                <a:cs typeface="Segoe UI" pitchFamily="34" charset="-120"/>
              </a:rPr>
              <a:t>of scam SMS caught by today's keyword filters</a:t>
            </a:r>
            <a:endParaRPr lang="en-US" sz="1800" dirty="0"/>
          </a:p>
        </p:txBody>
      </p:sp>
      <p:sp>
        <p:nvSpPr>
          <p:cNvPr id="18" name="Shape 16"/>
          <p:cNvSpPr/>
          <p:nvPr/>
        </p:nvSpPr>
        <p:spPr>
          <a:xfrm>
            <a:off x="7223760" y="4023360"/>
            <a:ext cx="137160" cy="137160"/>
          </a:xfrm>
          <a:prstGeom prst="ellipse">
            <a:avLst/>
          </a:prstGeom>
          <a:solidFill>
            <a:srgbClr val="E4002B"/>
          </a:solidFill>
          <a:ln w="12700">
            <a:solidFill>
              <a:srgbClr val="E4002B"/>
            </a:solidFill>
            <a:prstDash val="solid"/>
          </a:ln>
        </p:spPr>
      </p:sp>
      <p:sp>
        <p:nvSpPr>
          <p:cNvPr id="19" name="Text 17"/>
          <p:cNvSpPr txBox="1"/>
          <p:nvPr/>
        </p:nvSpPr>
        <p:spPr>
          <a:xfrm>
            <a:off x="7498080" y="3931920"/>
            <a:ext cx="4023360" cy="457200"/>
          </a:xfrm>
          <a:prstGeom prst="rect">
            <a:avLst/>
          </a:prstGeom>
          <a:noFill/>
          <a:ln/>
        </p:spPr>
        <p:txBody>
          <a:bodyPr wrap="square" lIns="0" tIns="0" rIns="0" bIns="0" rtlCol="0" anchor="t"/>
          <a:lstStyle/>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Blocklists updated by hand, hours to days late</a:t>
            </a:r>
            <a:endParaRPr lang="en-US" sz="1500" dirty="0"/>
          </a:p>
        </p:txBody>
      </p:sp>
      <p:sp>
        <p:nvSpPr>
          <p:cNvPr id="20" name="Shape 18"/>
          <p:cNvSpPr/>
          <p:nvPr/>
        </p:nvSpPr>
        <p:spPr>
          <a:xfrm>
            <a:off x="7223760" y="4572000"/>
            <a:ext cx="137160" cy="137160"/>
          </a:xfrm>
          <a:prstGeom prst="ellipse">
            <a:avLst/>
          </a:prstGeom>
          <a:solidFill>
            <a:srgbClr val="E4002B"/>
          </a:solidFill>
          <a:ln w="12700">
            <a:solidFill>
              <a:srgbClr val="E4002B"/>
            </a:solidFill>
            <a:prstDash val="solid"/>
          </a:ln>
        </p:spPr>
      </p:sp>
      <p:sp>
        <p:nvSpPr>
          <p:cNvPr id="21" name="Text 19"/>
          <p:cNvSpPr txBox="1"/>
          <p:nvPr/>
        </p:nvSpPr>
        <p:spPr>
          <a:xfrm>
            <a:off x="7498080" y="4480560"/>
            <a:ext cx="4023360" cy="457200"/>
          </a:xfrm>
          <a:prstGeom prst="rect">
            <a:avLst/>
          </a:prstGeom>
          <a:noFill/>
          <a:ln/>
        </p:spPr>
        <p:txBody>
          <a:bodyPr wrap="square" lIns="0" tIns="0" rIns="0" bIns="0" rtlCol="0" anchor="t"/>
          <a:lstStyle/>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One swapped letter beats a keyword</a:t>
            </a:r>
            <a:endParaRPr lang="en-US" sz="1500" dirty="0"/>
          </a:p>
        </p:txBody>
      </p:sp>
      <p:sp>
        <p:nvSpPr>
          <p:cNvPr id="22" name="Shape 20"/>
          <p:cNvSpPr/>
          <p:nvPr/>
        </p:nvSpPr>
        <p:spPr>
          <a:xfrm>
            <a:off x="7223760" y="5120640"/>
            <a:ext cx="137160" cy="137160"/>
          </a:xfrm>
          <a:prstGeom prst="ellipse">
            <a:avLst/>
          </a:prstGeom>
          <a:solidFill>
            <a:srgbClr val="E4002B"/>
          </a:solidFill>
          <a:ln w="12700">
            <a:solidFill>
              <a:srgbClr val="E4002B"/>
            </a:solidFill>
            <a:prstDash val="solid"/>
          </a:ln>
        </p:spPr>
      </p:sp>
      <p:sp>
        <p:nvSpPr>
          <p:cNvPr id="23" name="Text 21"/>
          <p:cNvSpPr txBox="1"/>
          <p:nvPr/>
        </p:nvSpPr>
        <p:spPr>
          <a:xfrm>
            <a:off x="7498080" y="5029200"/>
            <a:ext cx="4023360" cy="457200"/>
          </a:xfrm>
          <a:prstGeom prst="rect">
            <a:avLst/>
          </a:prstGeom>
          <a:noFill/>
          <a:ln/>
        </p:spPr>
        <p:txBody>
          <a:bodyPr wrap="square" lIns="0" tIns="0" rIns="0" bIns="0" rtlCol="0" anchor="t"/>
          <a:lstStyle/>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Subscribers lose money, operators lose trust</a:t>
            </a:r>
            <a:endParaRPr lang="en-US" sz="1500" dirty="0"/>
          </a:p>
        </p:txBody>
      </p:sp>
      <p:sp>
        <p:nvSpPr>
          <p:cNvPr id="24" name="Text 22"/>
          <p:cNvSpPr txBox="1"/>
          <p:nvPr/>
        </p:nvSpPr>
        <p:spPr>
          <a:xfrm>
            <a:off x="731520" y="5852160"/>
            <a:ext cx="5852160" cy="274320"/>
          </a:xfrm>
          <a:prstGeom prst="rect">
            <a:avLst/>
          </a:prstGeom>
          <a:noFill/>
          <a:ln/>
        </p:spPr>
        <p:txBody>
          <a:bodyPr wrap="square" lIns="0" tIns="0" rIns="0" bIns="0" rtlCol="0" anchor="t"/>
          <a:lstStyle/>
          <a:p>
            <a:pPr indent="0" marL="0">
              <a:spcAft>
                <a:spcPts val="400"/>
              </a:spcAft>
              <a:buNone/>
            </a:pPr>
            <a:r>
              <a:rPr lang="en-US" sz="1050" dirty="0">
                <a:solidFill>
                  <a:srgbClr val="64748B"/>
                </a:solidFill>
                <a:latin typeface="Segoe UI" pitchFamily="34" charset="0"/>
                <a:ea typeface="Segoe UI" pitchFamily="34" charset="-122"/>
                <a:cs typeface="Segoe UI" pitchFamily="34" charset="-120"/>
              </a:rPr>
              <a:t>Real scheme types officially warned about in Azerbaijan. Senders masked.</a:t>
            </a:r>
            <a:endParaRPr lang="en-US" sz="1050" dirty="0"/>
          </a:p>
        </p:txBody>
      </p:sp>
      <p:sp>
        <p:nvSpPr>
          <p:cNvPr id="25" name="Slide Number Placeholder 0"/>
          <p:cNvSpPr>
            <a:spLocks noGrp="1"/>
          </p:cNvSpPr>
          <p:nvPr>
            <p:ph type="sldNum" sz="quarter" idx="4294967295"/>
          </p:nvPr>
        </p:nvSpPr>
        <p:spPr>
          <a:xfrm>
            <a:off x="1091153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0092BC"/>
                </a:solidFill>
                <a:latin typeface="Segoe UI" pitchFamily="34" charset="0"/>
                <a:ea typeface="Segoe UI" pitchFamily="34" charset="-122"/>
                <a:cs typeface="Segoe UI" pitchFamily="34" charset="-120"/>
              </a:rPr>
              <a:t>THE SOLUTION</a:t>
            </a:r>
            <a:endParaRPr lang="en-US" sz="1100" dirty="0"/>
          </a:p>
        </p:txBody>
      </p:sp>
      <p:sp>
        <p:nvSpPr>
          <p:cNvPr id="3" name="Text 1"/>
          <p:cNvSpPr txBox="1"/>
          <p:nvPr/>
        </p:nvSpPr>
        <p:spPr>
          <a:xfrm>
            <a:off x="731520" y="777240"/>
            <a:ext cx="10728655" cy="731520"/>
          </a:xfrm>
          <a:prstGeom prst="rect">
            <a:avLst/>
          </a:prstGeom>
          <a:noFill/>
          <a:ln/>
        </p:spPr>
        <p:txBody>
          <a:bodyPr wrap="square" lIns="0" tIns="0" rIns="0" bIns="0" rtlCol="0" anchor="t"/>
          <a:lstStyle/>
          <a:p>
            <a:pPr indent="0" marL="0">
              <a:buNone/>
            </a:pPr>
            <a:r>
              <a:rPr lang="en-US" sz="3000" b="1" dirty="0">
                <a:solidFill>
                  <a:srgbClr val="14213D"/>
                </a:solidFill>
                <a:latin typeface="Georgia" pitchFamily="34" charset="0"/>
                <a:ea typeface="Georgia" pitchFamily="34" charset="-122"/>
                <a:cs typeface="Georgia" pitchFamily="34" charset="-120"/>
              </a:rPr>
              <a:t>Catch the campaign, not just the message</a:t>
            </a:r>
            <a:endParaRPr lang="en-US" sz="3000" dirty="0"/>
          </a:p>
        </p:txBody>
      </p:sp>
      <p:sp>
        <p:nvSpPr>
          <p:cNvPr id="4" name="Text 2"/>
          <p:cNvSpPr txBox="1"/>
          <p:nvPr/>
        </p:nvSpPr>
        <p:spPr>
          <a:xfrm>
            <a:off x="731520" y="1874520"/>
            <a:ext cx="1280160" cy="685800"/>
          </a:xfrm>
          <a:prstGeom prst="rect">
            <a:avLst/>
          </a:prstGeom>
          <a:noFill/>
          <a:ln/>
        </p:spPr>
        <p:txBody>
          <a:bodyPr wrap="square" lIns="0" tIns="0" rIns="0" bIns="0" rtlCol="0" anchor="ctr"/>
          <a:lstStyle/>
          <a:p>
            <a:pPr indent="0" marL="0">
              <a:buNone/>
            </a:pPr>
            <a:r>
              <a:rPr lang="en-US" sz="4000" b="1" dirty="0">
                <a:solidFill>
                  <a:srgbClr val="0092BC"/>
                </a:solidFill>
                <a:latin typeface="Georgia" pitchFamily="34" charset="0"/>
                <a:ea typeface="Georgia" pitchFamily="34" charset="-122"/>
                <a:cs typeface="Georgia" pitchFamily="34" charset="-120"/>
              </a:rPr>
              <a:t>01</a:t>
            </a:r>
            <a:endParaRPr lang="en-US" sz="4000" dirty="0"/>
          </a:p>
        </p:txBody>
      </p:sp>
      <p:sp>
        <p:nvSpPr>
          <p:cNvPr id="5" name="Text 3"/>
          <p:cNvSpPr txBox="1"/>
          <p:nvPr/>
        </p:nvSpPr>
        <p:spPr>
          <a:xfrm>
            <a:off x="731520" y="2606040"/>
            <a:ext cx="3108960" cy="457200"/>
          </a:xfrm>
          <a:prstGeom prst="rect">
            <a:avLst/>
          </a:prstGeom>
          <a:noFill/>
          <a:ln/>
        </p:spPr>
        <p:txBody>
          <a:bodyPr wrap="square" lIns="0" tIns="0" rIns="0" bIns="0" rtlCol="0" anchor="t"/>
          <a:lstStyle/>
          <a:p>
            <a:pPr indent="0" marL="0">
              <a:spcAft>
                <a:spcPts val="400"/>
              </a:spcAft>
              <a:buNone/>
            </a:pPr>
            <a:r>
              <a:rPr lang="en-US" sz="2400" b="1" dirty="0">
                <a:solidFill>
                  <a:srgbClr val="14213D"/>
                </a:solidFill>
                <a:latin typeface="Georgia" pitchFamily="34" charset="0"/>
                <a:ea typeface="Georgia" pitchFamily="34" charset="-122"/>
                <a:cs typeface="Georgia" pitchFamily="34" charset="-120"/>
              </a:rPr>
              <a:t>Detect</a:t>
            </a:r>
            <a:endParaRPr lang="en-US" sz="2400" dirty="0"/>
          </a:p>
        </p:txBody>
      </p:sp>
      <p:sp>
        <p:nvSpPr>
          <p:cNvPr id="6" name="Text 4"/>
          <p:cNvSpPr txBox="1"/>
          <p:nvPr/>
        </p:nvSpPr>
        <p:spPr>
          <a:xfrm>
            <a:off x="731520" y="3108960"/>
            <a:ext cx="3154680" cy="868680"/>
          </a:xfrm>
          <a:prstGeom prst="rect">
            <a:avLst/>
          </a:prstGeom>
          <a:noFill/>
          <a:ln/>
        </p:spPr>
        <p:txBody>
          <a:bodyPr wrap="square" lIns="0" tIns="0" rIns="0" bIns="0" rtlCol="0" anchor="t"/>
          <a:lstStyle/>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Understands the scheme in AZ / RU / EN, whatever the wording or letter swaps</a:t>
            </a:r>
            <a:endParaRPr lang="en-US" sz="1500" dirty="0"/>
          </a:p>
        </p:txBody>
      </p:sp>
      <p:sp>
        <p:nvSpPr>
          <p:cNvPr id="7" name="Shape 5"/>
          <p:cNvSpPr/>
          <p:nvPr/>
        </p:nvSpPr>
        <p:spPr>
          <a:xfrm>
            <a:off x="3749040" y="2212848"/>
            <a:ext cx="457200" cy="914"/>
          </a:xfrm>
          <a:prstGeom prst="line">
            <a:avLst/>
          </a:prstGeom>
          <a:noFill/>
          <a:ln w="22225">
            <a:solidFill>
              <a:srgbClr val="94A3B8"/>
            </a:solidFill>
            <a:prstDash val="solid"/>
            <a:tailEnd type="triangle"/>
          </a:ln>
        </p:spPr>
      </p:sp>
      <p:sp>
        <p:nvSpPr>
          <p:cNvPr id="8" name="Text 6"/>
          <p:cNvSpPr txBox="1"/>
          <p:nvPr/>
        </p:nvSpPr>
        <p:spPr>
          <a:xfrm>
            <a:off x="4343400" y="1874520"/>
            <a:ext cx="1280160" cy="685800"/>
          </a:xfrm>
          <a:prstGeom prst="rect">
            <a:avLst/>
          </a:prstGeom>
          <a:noFill/>
          <a:ln/>
        </p:spPr>
        <p:txBody>
          <a:bodyPr wrap="square" lIns="0" tIns="0" rIns="0" bIns="0" rtlCol="0" anchor="ctr"/>
          <a:lstStyle/>
          <a:p>
            <a:pPr indent="0" marL="0">
              <a:buNone/>
            </a:pPr>
            <a:r>
              <a:rPr lang="en-US" sz="4000" b="1" dirty="0">
                <a:solidFill>
                  <a:srgbClr val="0092BC"/>
                </a:solidFill>
                <a:latin typeface="Georgia" pitchFamily="34" charset="0"/>
                <a:ea typeface="Georgia" pitchFamily="34" charset="-122"/>
                <a:cs typeface="Georgia" pitchFamily="34" charset="-120"/>
              </a:rPr>
              <a:t>02</a:t>
            </a:r>
            <a:endParaRPr lang="en-US" sz="4000" dirty="0"/>
          </a:p>
        </p:txBody>
      </p:sp>
      <p:sp>
        <p:nvSpPr>
          <p:cNvPr id="9" name="Text 7"/>
          <p:cNvSpPr txBox="1"/>
          <p:nvPr/>
        </p:nvSpPr>
        <p:spPr>
          <a:xfrm>
            <a:off x="4343400" y="2606040"/>
            <a:ext cx="3108960" cy="457200"/>
          </a:xfrm>
          <a:prstGeom prst="rect">
            <a:avLst/>
          </a:prstGeom>
          <a:noFill/>
          <a:ln/>
        </p:spPr>
        <p:txBody>
          <a:bodyPr wrap="square" lIns="0" tIns="0" rIns="0" bIns="0" rtlCol="0" anchor="t"/>
          <a:lstStyle/>
          <a:p>
            <a:pPr indent="0" marL="0">
              <a:spcAft>
                <a:spcPts val="400"/>
              </a:spcAft>
              <a:buNone/>
            </a:pPr>
            <a:r>
              <a:rPr lang="en-US" sz="2400" b="1" dirty="0">
                <a:solidFill>
                  <a:srgbClr val="14213D"/>
                </a:solidFill>
                <a:latin typeface="Georgia" pitchFamily="34" charset="0"/>
                <a:ea typeface="Georgia" pitchFamily="34" charset="-122"/>
                <a:cs typeface="Georgia" pitchFamily="34" charset="-120"/>
              </a:rPr>
              <a:t>Group</a:t>
            </a:r>
            <a:endParaRPr lang="en-US" sz="2400" dirty="0"/>
          </a:p>
        </p:txBody>
      </p:sp>
      <p:sp>
        <p:nvSpPr>
          <p:cNvPr id="10" name="Text 8"/>
          <p:cNvSpPr txBox="1"/>
          <p:nvPr/>
        </p:nvSpPr>
        <p:spPr>
          <a:xfrm>
            <a:off x="4343400" y="3108960"/>
            <a:ext cx="3154680" cy="868680"/>
          </a:xfrm>
          <a:prstGeom prst="rect">
            <a:avLst/>
          </a:prstGeom>
          <a:noFill/>
          <a:ln/>
        </p:spPr>
        <p:txBody>
          <a:bodyPr wrap="square" lIns="0" tIns="0" rIns="0" bIns="0" rtlCol="0" anchor="t"/>
          <a:lstStyle/>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Joins messages into campaigns: brand, domains, phones, speed</a:t>
            </a:r>
            <a:endParaRPr lang="en-US" sz="1500" dirty="0"/>
          </a:p>
        </p:txBody>
      </p:sp>
      <p:sp>
        <p:nvSpPr>
          <p:cNvPr id="11" name="Shape 9"/>
          <p:cNvSpPr/>
          <p:nvPr/>
        </p:nvSpPr>
        <p:spPr>
          <a:xfrm>
            <a:off x="7360920" y="2212848"/>
            <a:ext cx="457200" cy="914"/>
          </a:xfrm>
          <a:prstGeom prst="line">
            <a:avLst/>
          </a:prstGeom>
          <a:noFill/>
          <a:ln w="22225">
            <a:solidFill>
              <a:srgbClr val="94A3B8"/>
            </a:solidFill>
            <a:prstDash val="solid"/>
            <a:tailEnd type="triangle"/>
          </a:ln>
        </p:spPr>
      </p:sp>
      <p:sp>
        <p:nvSpPr>
          <p:cNvPr id="12" name="Text 10"/>
          <p:cNvSpPr txBox="1"/>
          <p:nvPr/>
        </p:nvSpPr>
        <p:spPr>
          <a:xfrm>
            <a:off x="7955280" y="1874520"/>
            <a:ext cx="1280160" cy="685800"/>
          </a:xfrm>
          <a:prstGeom prst="rect">
            <a:avLst/>
          </a:prstGeom>
          <a:noFill/>
          <a:ln/>
        </p:spPr>
        <p:txBody>
          <a:bodyPr wrap="square" lIns="0" tIns="0" rIns="0" bIns="0" rtlCol="0" anchor="ctr"/>
          <a:lstStyle/>
          <a:p>
            <a:pPr indent="0" marL="0">
              <a:buNone/>
            </a:pPr>
            <a:r>
              <a:rPr lang="en-US" sz="4000" b="1" dirty="0">
                <a:solidFill>
                  <a:srgbClr val="0092BC"/>
                </a:solidFill>
                <a:latin typeface="Georgia" pitchFamily="34" charset="0"/>
                <a:ea typeface="Georgia" pitchFamily="34" charset="-122"/>
                <a:cs typeface="Georgia" pitchFamily="34" charset="-120"/>
              </a:rPr>
              <a:t>03</a:t>
            </a:r>
            <a:endParaRPr lang="en-US" sz="4000" dirty="0"/>
          </a:p>
        </p:txBody>
      </p:sp>
      <p:sp>
        <p:nvSpPr>
          <p:cNvPr id="13" name="Text 11"/>
          <p:cNvSpPr txBox="1"/>
          <p:nvPr/>
        </p:nvSpPr>
        <p:spPr>
          <a:xfrm>
            <a:off x="7955280" y="2606040"/>
            <a:ext cx="3108960" cy="457200"/>
          </a:xfrm>
          <a:prstGeom prst="rect">
            <a:avLst/>
          </a:prstGeom>
          <a:noFill/>
          <a:ln/>
        </p:spPr>
        <p:txBody>
          <a:bodyPr wrap="square" lIns="0" tIns="0" rIns="0" bIns="0" rtlCol="0" anchor="t"/>
          <a:lstStyle/>
          <a:p>
            <a:pPr indent="0" marL="0">
              <a:spcAft>
                <a:spcPts val="400"/>
              </a:spcAft>
              <a:buNone/>
            </a:pPr>
            <a:r>
              <a:rPr lang="en-US" sz="2400" b="1" dirty="0">
                <a:solidFill>
                  <a:srgbClr val="14213D"/>
                </a:solidFill>
                <a:latin typeface="Georgia" pitchFamily="34" charset="0"/>
                <a:ea typeface="Georgia" pitchFamily="34" charset="-122"/>
                <a:cs typeface="Georgia" pitchFamily="34" charset="-120"/>
              </a:rPr>
              <a:t>Act</a:t>
            </a:r>
            <a:endParaRPr lang="en-US" sz="2400" dirty="0"/>
          </a:p>
        </p:txBody>
      </p:sp>
      <p:sp>
        <p:nvSpPr>
          <p:cNvPr id="14" name="Text 12"/>
          <p:cNvSpPr txBox="1"/>
          <p:nvPr/>
        </p:nvSpPr>
        <p:spPr>
          <a:xfrm>
            <a:off x="7955280" y="3108960"/>
            <a:ext cx="3154680" cy="868680"/>
          </a:xfrm>
          <a:prstGeom prst="rect">
            <a:avLst/>
          </a:prstGeom>
          <a:noFill/>
          <a:ln/>
        </p:spPr>
        <p:txBody>
          <a:bodyPr wrap="square" lIns="0" tIns="0" rIns="0" bIns="0" rtlCol="0" anchor="t"/>
          <a:lstStyle/>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One click blocks the campaign and warns everyone who received it</a:t>
            </a:r>
            <a:endParaRPr lang="en-US" sz="1500" dirty="0"/>
          </a:p>
        </p:txBody>
      </p:sp>
      <p:sp>
        <p:nvSpPr>
          <p:cNvPr id="15" name="Shape 13"/>
          <p:cNvSpPr/>
          <p:nvPr/>
        </p:nvSpPr>
        <p:spPr>
          <a:xfrm>
            <a:off x="731520" y="4434840"/>
            <a:ext cx="5257800" cy="1188720"/>
          </a:xfrm>
          <a:prstGeom prst="roundRect">
            <a:avLst>
              <a:gd name="adj" fmla="val 6154"/>
            </a:avLst>
          </a:prstGeom>
          <a:solidFill>
            <a:srgbClr val="FDF3E1"/>
          </a:solidFill>
          <a:ln w="12700">
            <a:solidFill>
              <a:srgbClr val="FDF3E1"/>
            </a:solidFill>
            <a:prstDash val="solid"/>
          </a:ln>
        </p:spPr>
      </p:sp>
      <p:sp>
        <p:nvSpPr>
          <p:cNvPr id="16" name="Text 14"/>
          <p:cNvSpPr txBox="1"/>
          <p:nvPr/>
        </p:nvSpPr>
        <p:spPr>
          <a:xfrm>
            <a:off x="1005840" y="4617720"/>
            <a:ext cx="4754880" cy="914400"/>
          </a:xfrm>
          <a:prstGeom prst="rect">
            <a:avLst/>
          </a:prstGeom>
          <a:noFill/>
          <a:ln/>
        </p:spPr>
        <p:txBody>
          <a:bodyPr wrap="square" lIns="0" tIns="0" rIns="0" bIns="0" rtlCol="0" anchor="t"/>
          <a:lstStyle/>
          <a:p>
            <a:pPr indent="0" marL="0">
              <a:spcAft>
                <a:spcPts val="400"/>
              </a:spcAft>
              <a:buNone/>
            </a:pPr>
            <a:r>
              <a:rPr lang="en-US" sz="1700" b="1" dirty="0">
                <a:solidFill>
                  <a:srgbClr val="E39A00"/>
                </a:solidFill>
                <a:latin typeface="Segoe UI" pitchFamily="34" charset="0"/>
                <a:ea typeface="Segoe UI" pitchFamily="34" charset="-122"/>
                <a:cs typeface="Segoe UI" pitchFamily="34" charset="-120"/>
              </a:rPr>
              <a:t>Today</a:t>
            </a:r>
            <a:endParaRPr lang="en-US" sz="1700" dirty="0"/>
          </a:p>
          <a:p>
            <a:pPr indent="0" marL="0">
              <a:spcAft>
                <a:spcPts val="400"/>
              </a:spcAft>
              <a:buNone/>
            </a:pPr>
            <a:r>
              <a:rPr lang="en-US" sz="1700" dirty="0">
                <a:solidFill>
                  <a:srgbClr val="14213D"/>
                </a:solidFill>
                <a:latin typeface="Segoe UI" pitchFamily="34" charset="0"/>
                <a:ea typeface="Segoe UI" pitchFamily="34" charset="-122"/>
                <a:cs typeface="Segoe UI" pitchFamily="34" charset="-120"/>
              </a:rPr>
              <a:t>Hours to days, after subscribers complain</a:t>
            </a:r>
            <a:endParaRPr lang="en-US" sz="1700" dirty="0"/>
          </a:p>
        </p:txBody>
      </p:sp>
      <p:sp>
        <p:nvSpPr>
          <p:cNvPr id="17" name="Shape 15"/>
          <p:cNvSpPr/>
          <p:nvPr/>
        </p:nvSpPr>
        <p:spPr>
          <a:xfrm>
            <a:off x="6199632" y="4434840"/>
            <a:ext cx="5257800" cy="1188720"/>
          </a:xfrm>
          <a:prstGeom prst="roundRect">
            <a:avLst>
              <a:gd name="adj" fmla="val 6154"/>
            </a:avLst>
          </a:prstGeom>
          <a:solidFill>
            <a:srgbClr val="E7F6EF"/>
          </a:solidFill>
          <a:ln w="12700">
            <a:solidFill>
              <a:srgbClr val="E7F6EF"/>
            </a:solidFill>
            <a:prstDash val="solid"/>
          </a:ln>
        </p:spPr>
      </p:sp>
      <p:sp>
        <p:nvSpPr>
          <p:cNvPr id="18" name="Text 16"/>
          <p:cNvSpPr txBox="1"/>
          <p:nvPr/>
        </p:nvSpPr>
        <p:spPr>
          <a:xfrm>
            <a:off x="6473952" y="4617720"/>
            <a:ext cx="4754880" cy="914400"/>
          </a:xfrm>
          <a:prstGeom prst="rect">
            <a:avLst/>
          </a:prstGeom>
          <a:noFill/>
          <a:ln/>
        </p:spPr>
        <p:txBody>
          <a:bodyPr wrap="square" lIns="0" tIns="0" rIns="0" bIns="0" rtlCol="0" anchor="t"/>
          <a:lstStyle/>
          <a:p>
            <a:pPr indent="0" marL="0">
              <a:spcAft>
                <a:spcPts val="400"/>
              </a:spcAft>
              <a:buNone/>
            </a:pPr>
            <a:r>
              <a:rPr lang="en-US" sz="1700" b="1" dirty="0">
                <a:solidFill>
                  <a:srgbClr val="00A862"/>
                </a:solidFill>
                <a:latin typeface="Segoe UI" pitchFamily="34" charset="0"/>
                <a:ea typeface="Segoe UI" pitchFamily="34" charset="-122"/>
                <a:cs typeface="Segoe UI" pitchFamily="34" charset="-120"/>
              </a:rPr>
              <a:t>With Qalxan</a:t>
            </a:r>
            <a:endParaRPr lang="en-US" sz="1700" dirty="0"/>
          </a:p>
          <a:p>
            <a:pPr indent="0" marL="0">
              <a:spcAft>
                <a:spcPts val="400"/>
              </a:spcAft>
              <a:buNone/>
            </a:pPr>
            <a:r>
              <a:rPr lang="en-US" sz="1700" dirty="0">
                <a:solidFill>
                  <a:srgbClr val="14213D"/>
                </a:solidFill>
                <a:latin typeface="Segoe UI" pitchFamily="34" charset="0"/>
                <a:ea typeface="Segoe UI" pitchFamily="34" charset="-122"/>
                <a:cs typeface="Segoe UI" pitchFamily="34" charset="-120"/>
              </a:rPr>
              <a:t>Seconds from the first SMS</a:t>
            </a:r>
            <a:endParaRPr lang="en-US" sz="1700" dirty="0"/>
          </a:p>
        </p:txBody>
      </p:sp>
      <p:sp>
        <p:nvSpPr>
          <p:cNvPr id="25" name="Slide Number Placeholder 0"/>
          <p:cNvSpPr>
            <a:spLocks noGrp="1"/>
          </p:cNvSpPr>
          <p:nvPr>
            <p:ph type="sldNum" sz="quarter" idx="4294967295"/>
          </p:nvPr>
        </p:nvSpPr>
        <p:spPr>
          <a:xfrm>
            <a:off x="1091153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0092BC"/>
                </a:solidFill>
                <a:latin typeface="Segoe UI" pitchFamily="34" charset="0"/>
                <a:ea typeface="Segoe UI" pitchFamily="34" charset="-122"/>
                <a:cs typeface="Segoe UI" pitchFamily="34" charset="-120"/>
              </a:rPr>
              <a:t>OUR PRODUCT</a:t>
            </a:r>
            <a:endParaRPr lang="en-US" sz="1100" dirty="0"/>
          </a:p>
        </p:txBody>
      </p:sp>
      <p:sp>
        <p:nvSpPr>
          <p:cNvPr id="3" name="Text 1"/>
          <p:cNvSpPr txBox="1"/>
          <p:nvPr/>
        </p:nvSpPr>
        <p:spPr>
          <a:xfrm>
            <a:off x="731520" y="777240"/>
            <a:ext cx="10728655" cy="731520"/>
          </a:xfrm>
          <a:prstGeom prst="rect">
            <a:avLst/>
          </a:prstGeom>
          <a:noFill/>
          <a:ln/>
        </p:spPr>
        <p:txBody>
          <a:bodyPr wrap="square" lIns="0" tIns="0" rIns="0" bIns="0" rtlCol="0" anchor="t"/>
          <a:lstStyle/>
          <a:p>
            <a:pPr indent="0" marL="0">
              <a:buNone/>
            </a:pPr>
            <a:r>
              <a:rPr lang="en-US" sz="3000" b="1" dirty="0">
                <a:solidFill>
                  <a:srgbClr val="14213D"/>
                </a:solidFill>
                <a:latin typeface="Georgia" pitchFamily="34" charset="0"/>
                <a:ea typeface="Georgia" pitchFamily="34" charset="-122"/>
                <a:cs typeface="Georgia" pitchFamily="34" charset="-120"/>
              </a:rPr>
              <a:t>Qalxan at a glance</a:t>
            </a:r>
            <a:endParaRPr lang="en-US" sz="3000" dirty="0"/>
          </a:p>
        </p:txBody>
      </p:sp>
      <p:sp>
        <p:nvSpPr>
          <p:cNvPr id="4" name="Text 2"/>
          <p:cNvSpPr txBox="1"/>
          <p:nvPr/>
        </p:nvSpPr>
        <p:spPr>
          <a:xfrm>
            <a:off x="731520" y="1828800"/>
            <a:ext cx="5120640" cy="1463040"/>
          </a:xfrm>
          <a:prstGeom prst="rect">
            <a:avLst/>
          </a:prstGeom>
          <a:noFill/>
          <a:ln/>
        </p:spPr>
        <p:txBody>
          <a:bodyPr wrap="square" lIns="0" tIns="0" rIns="0" bIns="0" rtlCol="0" anchor="t"/>
          <a:lstStyle/>
          <a:p>
            <a:pPr indent="0" marL="0">
              <a:spcAft>
                <a:spcPts val="400"/>
              </a:spcAft>
              <a:buNone/>
            </a:pPr>
            <a:r>
              <a:rPr lang="en-US" sz="2000" b="1" dirty="0">
                <a:solidFill>
                  <a:srgbClr val="14213D"/>
                </a:solidFill>
                <a:latin typeface="Georgia" pitchFamily="34" charset="0"/>
                <a:ea typeface="Georgia" pitchFamily="34" charset="-122"/>
                <a:cs typeface="Georgia" pitchFamily="34" charset="-120"/>
              </a:rPr>
              <a:t>Overview</a:t>
            </a:r>
            <a:endParaRPr lang="en-US" sz="1600" dirty="0"/>
          </a:p>
          <a:p>
            <a:pPr indent="0" marL="0">
              <a:spcAft>
                <a:spcPts val="400"/>
              </a:spcAft>
              <a:buNone/>
            </a:pPr>
            <a:r>
              <a:rPr lang="en-US" sz="1600" dirty="0">
                <a:solidFill>
                  <a:srgbClr val="334155"/>
                </a:solidFill>
                <a:latin typeface="Segoe UI" pitchFamily="34" charset="0"/>
                <a:ea typeface="Segoe UI" pitchFamily="34" charset="-122"/>
                <a:cs typeface="Segoe UI" pitchFamily="34" charset="-120"/>
              </a:rPr>
              <a:t>An AI radar next to the operator's SMS firewall: it scores every message, explains why, and turns scam traffic into campaigns.</a:t>
            </a:r>
            <a:endParaRPr lang="en-US" sz="1600" dirty="0"/>
          </a:p>
        </p:txBody>
      </p:sp>
      <p:sp>
        <p:nvSpPr>
          <p:cNvPr id="5" name="Text 3"/>
          <p:cNvSpPr txBox="1"/>
          <p:nvPr/>
        </p:nvSpPr>
        <p:spPr>
          <a:xfrm>
            <a:off x="731520" y="3520440"/>
            <a:ext cx="5120640" cy="411480"/>
          </a:xfrm>
          <a:prstGeom prst="rect">
            <a:avLst/>
          </a:prstGeom>
          <a:noFill/>
          <a:ln/>
        </p:spPr>
        <p:txBody>
          <a:bodyPr wrap="square" lIns="0" tIns="0" rIns="0" bIns="0" rtlCol="0" anchor="t"/>
          <a:lstStyle/>
          <a:p>
            <a:pPr indent="0" marL="0">
              <a:spcAft>
                <a:spcPts val="400"/>
              </a:spcAft>
              <a:buNone/>
            </a:pPr>
            <a:r>
              <a:rPr lang="en-US" sz="2000" b="1" dirty="0">
                <a:solidFill>
                  <a:srgbClr val="14213D"/>
                </a:solidFill>
                <a:latin typeface="Georgia" pitchFamily="34" charset="0"/>
                <a:ea typeface="Georgia" pitchFamily="34" charset="-122"/>
                <a:cs typeface="Georgia" pitchFamily="34" charset="-120"/>
              </a:rPr>
              <a:t>Who uses it</a:t>
            </a:r>
            <a:endParaRPr lang="en-US" sz="2000" dirty="0"/>
          </a:p>
        </p:txBody>
      </p:sp>
      <p:sp>
        <p:nvSpPr>
          <p:cNvPr id="6" name="Shape 4"/>
          <p:cNvSpPr/>
          <p:nvPr/>
        </p:nvSpPr>
        <p:spPr>
          <a:xfrm>
            <a:off x="731520" y="4160520"/>
            <a:ext cx="137160" cy="137160"/>
          </a:xfrm>
          <a:prstGeom prst="ellipse">
            <a:avLst/>
          </a:prstGeom>
          <a:solidFill>
            <a:srgbClr val="0092BC"/>
          </a:solidFill>
          <a:ln w="12700">
            <a:solidFill>
              <a:srgbClr val="0092BC"/>
            </a:solidFill>
            <a:prstDash val="solid"/>
          </a:ln>
        </p:spPr>
      </p:sp>
      <p:sp>
        <p:nvSpPr>
          <p:cNvPr id="7" name="Text 5"/>
          <p:cNvSpPr txBox="1"/>
          <p:nvPr/>
        </p:nvSpPr>
        <p:spPr>
          <a:xfrm>
            <a:off x="1005840" y="4069080"/>
            <a:ext cx="4846320" cy="731520"/>
          </a:xfrm>
          <a:prstGeom prst="rect">
            <a:avLst/>
          </a:prstGeom>
          <a:noFill/>
          <a:ln/>
        </p:spPr>
        <p:txBody>
          <a:bodyPr wrap="square" lIns="0" tIns="0" rIns="0" bIns="0" rtlCol="0" anchor="t"/>
          <a:lstStyle/>
          <a:p>
            <a:pPr indent="0" marL="0">
              <a:spcAft>
                <a:spcPts val="400"/>
              </a:spcAft>
              <a:buNone/>
            </a:pPr>
            <a:r>
              <a:rPr lang="en-US" sz="1500" b="1" dirty="0">
                <a:solidFill>
                  <a:srgbClr val="14213D"/>
                </a:solidFill>
                <a:latin typeface="Segoe UI" pitchFamily="34" charset="0"/>
                <a:ea typeface="Segoe UI" pitchFamily="34" charset="-122"/>
                <a:cs typeface="Segoe UI" pitchFamily="34" charset="-120"/>
              </a:rPr>
              <a:t>Anti-fraud analyst</a:t>
            </a:r>
            <a:endParaRPr lang="en-US" sz="1500" dirty="0"/>
          </a:p>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web dashboard: campaigns, block, warn</a:t>
            </a:r>
            <a:endParaRPr lang="en-US" sz="1500" dirty="0"/>
          </a:p>
        </p:txBody>
      </p:sp>
      <p:sp>
        <p:nvSpPr>
          <p:cNvPr id="8" name="Shape 6"/>
          <p:cNvSpPr/>
          <p:nvPr/>
        </p:nvSpPr>
        <p:spPr>
          <a:xfrm>
            <a:off x="731520" y="4937760"/>
            <a:ext cx="137160" cy="137160"/>
          </a:xfrm>
          <a:prstGeom prst="ellipse">
            <a:avLst/>
          </a:prstGeom>
          <a:solidFill>
            <a:srgbClr val="0092BC"/>
          </a:solidFill>
          <a:ln w="12700">
            <a:solidFill>
              <a:srgbClr val="0092BC"/>
            </a:solidFill>
            <a:prstDash val="solid"/>
          </a:ln>
        </p:spPr>
      </p:sp>
      <p:sp>
        <p:nvSpPr>
          <p:cNvPr id="9" name="Text 7"/>
          <p:cNvSpPr txBox="1"/>
          <p:nvPr/>
        </p:nvSpPr>
        <p:spPr>
          <a:xfrm>
            <a:off x="1005840" y="4846320"/>
            <a:ext cx="4846320" cy="731520"/>
          </a:xfrm>
          <a:prstGeom prst="rect">
            <a:avLst/>
          </a:prstGeom>
          <a:noFill/>
          <a:ln/>
        </p:spPr>
        <p:txBody>
          <a:bodyPr wrap="square" lIns="0" tIns="0" rIns="0" bIns="0" rtlCol="0" anchor="t"/>
          <a:lstStyle/>
          <a:p>
            <a:pPr indent="0" marL="0">
              <a:spcAft>
                <a:spcPts val="400"/>
              </a:spcAft>
              <a:buNone/>
            </a:pPr>
            <a:r>
              <a:rPr lang="en-US" sz="1500" b="1" dirty="0">
                <a:solidFill>
                  <a:srgbClr val="14213D"/>
                </a:solidFill>
                <a:latin typeface="Segoe UI" pitchFamily="34" charset="0"/>
                <a:ea typeface="Segoe UI" pitchFamily="34" charset="-122"/>
                <a:cs typeface="Segoe UI" pitchFamily="34" charset="-120"/>
              </a:rPr>
              <a:t>Subscriber</a:t>
            </a:r>
            <a:endParaRPr lang="en-US" sz="1500" dirty="0"/>
          </a:p>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Telegram bot: forward an SMS, get a verdict</a:t>
            </a:r>
            <a:endParaRPr lang="en-US" sz="1500" dirty="0"/>
          </a:p>
        </p:txBody>
      </p:sp>
      <p:sp>
        <p:nvSpPr>
          <p:cNvPr id="10" name="Shape 8"/>
          <p:cNvSpPr/>
          <p:nvPr/>
        </p:nvSpPr>
        <p:spPr>
          <a:xfrm>
            <a:off x="6400800" y="1828800"/>
            <a:ext cx="5056632" cy="1828800"/>
          </a:xfrm>
          <a:prstGeom prst="roundRect">
            <a:avLst>
              <a:gd name="adj" fmla="val 4000"/>
            </a:avLst>
          </a:prstGeom>
          <a:solidFill>
            <a:srgbClr val="E6F4F9"/>
          </a:solidFill>
          <a:ln w="12700">
            <a:solidFill>
              <a:srgbClr val="E6F4F9"/>
            </a:solidFill>
            <a:prstDash val="solid"/>
          </a:ln>
        </p:spPr>
      </p:sp>
      <p:sp>
        <p:nvSpPr>
          <p:cNvPr id="11" name="Text 9"/>
          <p:cNvSpPr txBox="1"/>
          <p:nvPr/>
        </p:nvSpPr>
        <p:spPr>
          <a:xfrm>
            <a:off x="6675120" y="2011680"/>
            <a:ext cx="4572000" cy="1554480"/>
          </a:xfrm>
          <a:prstGeom prst="rect">
            <a:avLst/>
          </a:prstGeom>
          <a:noFill/>
          <a:ln/>
        </p:spPr>
        <p:txBody>
          <a:bodyPr wrap="square" lIns="0" tIns="0" rIns="0" bIns="0" rtlCol="0" anchor="t"/>
          <a:lstStyle/>
          <a:p>
            <a:pPr indent="0" marL="0">
              <a:spcAft>
                <a:spcPts val="400"/>
              </a:spcAft>
              <a:buNone/>
            </a:pPr>
            <a:r>
              <a:rPr lang="en-US" sz="2000" b="1" dirty="0">
                <a:solidFill>
                  <a:srgbClr val="0092BC"/>
                </a:solidFill>
                <a:latin typeface="Georgia" pitchFamily="34" charset="0"/>
                <a:ea typeface="Georgia" pitchFamily="34" charset="-122"/>
                <a:cs typeface="Georgia" pitchFamily="34" charset="-120"/>
              </a:rPr>
              <a:t>Mission</a:t>
            </a:r>
            <a:endParaRPr lang="en-US" sz="1600" dirty="0"/>
          </a:p>
          <a:p>
            <a:pPr indent="0" marL="0">
              <a:spcAft>
                <a:spcPts val="400"/>
              </a:spcAft>
              <a:buNone/>
            </a:pPr>
            <a:r>
              <a:rPr lang="en-US" sz="1600" dirty="0">
                <a:solidFill>
                  <a:srgbClr val="14213D"/>
                </a:solidFill>
                <a:latin typeface="Segoe UI" pitchFamily="34" charset="0"/>
                <a:ea typeface="Segoe UI" pitchFamily="34" charset="-122"/>
                <a:cs typeface="Segoe UI" pitchFamily="34" charset="-120"/>
              </a:rPr>
              <a:t>Make every scam campaign visible and stoppable within minutes, in the languages people here actually write in.</a:t>
            </a:r>
            <a:endParaRPr lang="en-US" sz="1600" dirty="0"/>
          </a:p>
        </p:txBody>
      </p:sp>
      <p:sp>
        <p:nvSpPr>
          <p:cNvPr id="12" name="Shape 10"/>
          <p:cNvSpPr/>
          <p:nvPr/>
        </p:nvSpPr>
        <p:spPr>
          <a:xfrm>
            <a:off x="6400800" y="3840480"/>
            <a:ext cx="5056632" cy="1828800"/>
          </a:xfrm>
          <a:prstGeom prst="roundRect">
            <a:avLst>
              <a:gd name="adj" fmla="val 4000"/>
            </a:avLst>
          </a:prstGeom>
          <a:solidFill>
            <a:srgbClr val="E7F6EF"/>
          </a:solidFill>
          <a:ln w="12700">
            <a:solidFill>
              <a:srgbClr val="E7F6EF"/>
            </a:solidFill>
            <a:prstDash val="solid"/>
          </a:ln>
        </p:spPr>
      </p:sp>
      <p:sp>
        <p:nvSpPr>
          <p:cNvPr id="13" name="Text 11"/>
          <p:cNvSpPr txBox="1"/>
          <p:nvPr/>
        </p:nvSpPr>
        <p:spPr>
          <a:xfrm>
            <a:off x="6675120" y="4023360"/>
            <a:ext cx="4572000" cy="1554480"/>
          </a:xfrm>
          <a:prstGeom prst="rect">
            <a:avLst/>
          </a:prstGeom>
          <a:noFill/>
          <a:ln/>
        </p:spPr>
        <p:txBody>
          <a:bodyPr wrap="square" lIns="0" tIns="0" rIns="0" bIns="0" rtlCol="0" anchor="t"/>
          <a:lstStyle/>
          <a:p>
            <a:pPr indent="0" marL="0">
              <a:spcAft>
                <a:spcPts val="400"/>
              </a:spcAft>
              <a:buNone/>
            </a:pPr>
            <a:r>
              <a:rPr lang="en-US" sz="2000" b="1" dirty="0">
                <a:solidFill>
                  <a:srgbClr val="00A862"/>
                </a:solidFill>
                <a:latin typeface="Georgia" pitchFamily="34" charset="0"/>
                <a:ea typeface="Georgia" pitchFamily="34" charset="-122"/>
                <a:cs typeface="Georgia" pitchFamily="34" charset="-120"/>
              </a:rPr>
              <a:t>Vision</a:t>
            </a:r>
            <a:endParaRPr lang="en-US" sz="1600" dirty="0"/>
          </a:p>
          <a:p>
            <a:pPr indent="0" marL="0">
              <a:spcAft>
                <a:spcPts val="400"/>
              </a:spcAft>
              <a:buNone/>
            </a:pPr>
            <a:r>
              <a:rPr lang="en-US" sz="1600" dirty="0">
                <a:solidFill>
                  <a:srgbClr val="14213D"/>
                </a:solidFill>
                <a:latin typeface="Segoe UI" pitchFamily="34" charset="0"/>
                <a:ea typeface="Segoe UI" pitchFamily="34" charset="-122"/>
                <a:cs typeface="Segoe UI" pitchFamily="34" charset="-120"/>
              </a:rPr>
              <a:t>One shield for every subscriber in the region: operators, banks and people sharing one live picture of scams.</a:t>
            </a:r>
            <a:endParaRPr lang="en-US" sz="1600" dirty="0"/>
          </a:p>
        </p:txBody>
      </p:sp>
      <p:sp>
        <p:nvSpPr>
          <p:cNvPr id="25" name="Slide Number Placeholder 0"/>
          <p:cNvSpPr>
            <a:spLocks noGrp="1"/>
          </p:cNvSpPr>
          <p:nvPr>
            <p:ph type="sldNum" sz="quarter" idx="4294967295"/>
          </p:nvPr>
        </p:nvSpPr>
        <p:spPr>
          <a:xfrm>
            <a:off x="1091153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0092BC"/>
                </a:solidFill>
                <a:latin typeface="Segoe UI" pitchFamily="34" charset="0"/>
                <a:ea typeface="Segoe UI" pitchFamily="34" charset="-122"/>
                <a:cs typeface="Segoe UI" pitchFamily="34" charset="-120"/>
              </a:rPr>
              <a:t>FEATURES AND HOW IT WORKS</a:t>
            </a:r>
            <a:endParaRPr lang="en-US" sz="1100" dirty="0"/>
          </a:p>
        </p:txBody>
      </p:sp>
      <p:sp>
        <p:nvSpPr>
          <p:cNvPr id="3" name="Text 1"/>
          <p:cNvSpPr txBox="1"/>
          <p:nvPr/>
        </p:nvSpPr>
        <p:spPr>
          <a:xfrm>
            <a:off x="731520" y="777240"/>
            <a:ext cx="10728655" cy="731520"/>
          </a:xfrm>
          <a:prstGeom prst="rect">
            <a:avLst/>
          </a:prstGeom>
          <a:noFill/>
          <a:ln/>
        </p:spPr>
        <p:txBody>
          <a:bodyPr wrap="square" lIns="0" tIns="0" rIns="0" bIns="0" rtlCol="0" anchor="t"/>
          <a:lstStyle/>
          <a:p>
            <a:pPr indent="0" marL="0">
              <a:buNone/>
            </a:pPr>
            <a:r>
              <a:rPr lang="en-US" sz="3000" b="1" dirty="0">
                <a:solidFill>
                  <a:srgbClr val="14213D"/>
                </a:solidFill>
                <a:latin typeface="Georgia" pitchFamily="34" charset="0"/>
                <a:ea typeface="Georgia" pitchFamily="34" charset="-122"/>
                <a:cs typeface="Georgia" pitchFamily="34" charset="-120"/>
              </a:rPr>
              <a:t>Our model decides, Gemini double-checks</a:t>
            </a:r>
            <a:endParaRPr lang="en-US" sz="3000" dirty="0"/>
          </a:p>
        </p:txBody>
      </p:sp>
      <p:sp>
        <p:nvSpPr>
          <p:cNvPr id="4" name="Shape 2"/>
          <p:cNvSpPr/>
          <p:nvPr/>
        </p:nvSpPr>
        <p:spPr>
          <a:xfrm>
            <a:off x="731520" y="1920240"/>
            <a:ext cx="137160" cy="137160"/>
          </a:xfrm>
          <a:prstGeom prst="ellipse">
            <a:avLst/>
          </a:prstGeom>
          <a:solidFill>
            <a:srgbClr val="0092BC"/>
          </a:solidFill>
          <a:ln w="12700">
            <a:solidFill>
              <a:srgbClr val="0092BC"/>
            </a:solidFill>
            <a:prstDash val="solid"/>
          </a:ln>
        </p:spPr>
      </p:sp>
      <p:sp>
        <p:nvSpPr>
          <p:cNvPr id="5" name="Text 3"/>
          <p:cNvSpPr txBox="1"/>
          <p:nvPr/>
        </p:nvSpPr>
        <p:spPr>
          <a:xfrm>
            <a:off x="1005840" y="1828800"/>
            <a:ext cx="4754880" cy="731520"/>
          </a:xfrm>
          <a:prstGeom prst="rect">
            <a:avLst/>
          </a:prstGeom>
          <a:noFill/>
          <a:ln/>
        </p:spPr>
        <p:txBody>
          <a:bodyPr wrap="square" lIns="0" tIns="0" rIns="0" bIns="0" rtlCol="0" anchor="t"/>
          <a:lstStyle/>
          <a:p>
            <a:pPr indent="0" marL="0">
              <a:spcAft>
                <a:spcPts val="400"/>
              </a:spcAft>
              <a:buNone/>
            </a:pPr>
            <a:r>
              <a:rPr lang="en-US" sz="1500" b="1" dirty="0">
                <a:solidFill>
                  <a:srgbClr val="14213D"/>
                </a:solidFill>
                <a:latin typeface="Segoe UI" pitchFamily="34" charset="0"/>
                <a:ea typeface="Segoe UI" pitchFamily="34" charset="-122"/>
                <a:cs typeface="Segoe UI" pitchFamily="34" charset="-120"/>
              </a:rPr>
              <a:t>Scam detection in AZ / RU / EN</a:t>
            </a:r>
            <a:endParaRPr lang="en-US" sz="1500" dirty="0"/>
          </a:p>
          <a:p>
            <a:pPr indent="0" marL="0">
              <a:spcAft>
                <a:spcPts val="400"/>
              </a:spcAft>
              <a:buNone/>
            </a:pPr>
            <a:r>
              <a:rPr lang="en-US" sz="1500" dirty="0">
                <a:solidFill>
                  <a:srgbClr val="64748B"/>
                </a:solidFill>
                <a:latin typeface="Segoe UI" pitchFamily="34" charset="0"/>
                <a:ea typeface="Segoe UI" pitchFamily="34" charset="-122"/>
                <a:cs typeface="Segoe UI" pitchFamily="34" charset="-120"/>
              </a:rPr>
              <a:t>survives letter swaps and rephrasing</a:t>
            </a:r>
            <a:endParaRPr lang="en-US" sz="1500" dirty="0"/>
          </a:p>
        </p:txBody>
      </p:sp>
      <p:sp>
        <p:nvSpPr>
          <p:cNvPr id="6" name="Shape 4"/>
          <p:cNvSpPr/>
          <p:nvPr/>
        </p:nvSpPr>
        <p:spPr>
          <a:xfrm>
            <a:off x="731520" y="2706624"/>
            <a:ext cx="137160" cy="137160"/>
          </a:xfrm>
          <a:prstGeom prst="ellipse">
            <a:avLst/>
          </a:prstGeom>
          <a:solidFill>
            <a:srgbClr val="0092BC"/>
          </a:solidFill>
          <a:ln w="12700">
            <a:solidFill>
              <a:srgbClr val="0092BC"/>
            </a:solidFill>
            <a:prstDash val="solid"/>
          </a:ln>
        </p:spPr>
      </p:sp>
      <p:sp>
        <p:nvSpPr>
          <p:cNvPr id="7" name="Text 5"/>
          <p:cNvSpPr txBox="1"/>
          <p:nvPr/>
        </p:nvSpPr>
        <p:spPr>
          <a:xfrm>
            <a:off x="1005840" y="2615184"/>
            <a:ext cx="4754880" cy="731520"/>
          </a:xfrm>
          <a:prstGeom prst="rect">
            <a:avLst/>
          </a:prstGeom>
          <a:noFill/>
          <a:ln/>
        </p:spPr>
        <p:txBody>
          <a:bodyPr wrap="square" lIns="0" tIns="0" rIns="0" bIns="0" rtlCol="0" anchor="t"/>
          <a:lstStyle/>
          <a:p>
            <a:pPr indent="0" marL="0">
              <a:spcAft>
                <a:spcPts val="400"/>
              </a:spcAft>
              <a:buNone/>
            </a:pPr>
            <a:r>
              <a:rPr lang="en-US" sz="1500" b="1" dirty="0">
                <a:solidFill>
                  <a:srgbClr val="14213D"/>
                </a:solidFill>
                <a:latin typeface="Segoe UI" pitchFamily="34" charset="0"/>
                <a:ea typeface="Segoe UI" pitchFamily="34" charset="-122"/>
                <a:cs typeface="Segoe UI" pitchFamily="34" charset="-120"/>
              </a:rPr>
              <a:t>Campaign grouping</a:t>
            </a:r>
            <a:endParaRPr lang="en-US" sz="1500" dirty="0"/>
          </a:p>
          <a:p>
            <a:pPr indent="0" marL="0">
              <a:spcAft>
                <a:spcPts val="400"/>
              </a:spcAft>
              <a:buNone/>
            </a:pPr>
            <a:r>
              <a:rPr lang="en-US" sz="1500" dirty="0">
                <a:solidFill>
                  <a:srgbClr val="64748B"/>
                </a:solidFill>
                <a:latin typeface="Segoe UI" pitchFamily="34" charset="0"/>
                <a:ea typeface="Segoe UI" pitchFamily="34" charset="-122"/>
                <a:cs typeface="Segoe UI" pitchFamily="34" charset="-120"/>
              </a:rPr>
              <a:t>brand, domains, phones, rate</a:t>
            </a:r>
            <a:endParaRPr lang="en-US" sz="1500" dirty="0"/>
          </a:p>
        </p:txBody>
      </p:sp>
      <p:sp>
        <p:nvSpPr>
          <p:cNvPr id="8" name="Shape 6"/>
          <p:cNvSpPr/>
          <p:nvPr/>
        </p:nvSpPr>
        <p:spPr>
          <a:xfrm>
            <a:off x="731520" y="3493008"/>
            <a:ext cx="137160" cy="137160"/>
          </a:xfrm>
          <a:prstGeom prst="ellipse">
            <a:avLst/>
          </a:prstGeom>
          <a:solidFill>
            <a:srgbClr val="0092BC"/>
          </a:solidFill>
          <a:ln w="12700">
            <a:solidFill>
              <a:srgbClr val="0092BC"/>
            </a:solidFill>
            <a:prstDash val="solid"/>
          </a:ln>
        </p:spPr>
      </p:sp>
      <p:sp>
        <p:nvSpPr>
          <p:cNvPr id="9" name="Text 7"/>
          <p:cNvSpPr txBox="1"/>
          <p:nvPr/>
        </p:nvSpPr>
        <p:spPr>
          <a:xfrm>
            <a:off x="1005840" y="3401568"/>
            <a:ext cx="4754880" cy="731520"/>
          </a:xfrm>
          <a:prstGeom prst="rect">
            <a:avLst/>
          </a:prstGeom>
          <a:noFill/>
          <a:ln/>
        </p:spPr>
        <p:txBody>
          <a:bodyPr wrap="square" lIns="0" tIns="0" rIns="0" bIns="0" rtlCol="0" anchor="t"/>
          <a:lstStyle/>
          <a:p>
            <a:pPr indent="0" marL="0">
              <a:spcAft>
                <a:spcPts val="400"/>
              </a:spcAft>
              <a:buNone/>
            </a:pPr>
            <a:r>
              <a:rPr lang="en-US" sz="1500" b="1" dirty="0">
                <a:solidFill>
                  <a:srgbClr val="14213D"/>
                </a:solidFill>
                <a:latin typeface="Segoe UI" pitchFamily="34" charset="0"/>
                <a:ea typeface="Segoe UI" pitchFamily="34" charset="-122"/>
                <a:cs typeface="Segoe UI" pitchFamily="34" charset="-120"/>
              </a:rPr>
              <a:t>One-click actions</a:t>
            </a:r>
            <a:endParaRPr lang="en-US" sz="1500" dirty="0"/>
          </a:p>
          <a:p>
            <a:pPr indent="0" marL="0">
              <a:spcAft>
                <a:spcPts val="400"/>
              </a:spcAft>
              <a:buNone/>
            </a:pPr>
            <a:r>
              <a:rPr lang="en-US" sz="1500" dirty="0">
                <a:solidFill>
                  <a:srgbClr val="64748B"/>
                </a:solidFill>
                <a:latin typeface="Segoe UI" pitchFamily="34" charset="0"/>
                <a:ea typeface="Segoe UI" pitchFamily="34" charset="-122"/>
                <a:cs typeface="Segoe UI" pitchFamily="34" charset="-120"/>
              </a:rPr>
              <a:t>block a campaign, warn recipients</a:t>
            </a:r>
            <a:endParaRPr lang="en-US" sz="1500" dirty="0"/>
          </a:p>
        </p:txBody>
      </p:sp>
      <p:sp>
        <p:nvSpPr>
          <p:cNvPr id="10" name="Shape 8"/>
          <p:cNvSpPr/>
          <p:nvPr/>
        </p:nvSpPr>
        <p:spPr>
          <a:xfrm>
            <a:off x="731520" y="4279392"/>
            <a:ext cx="137160" cy="137160"/>
          </a:xfrm>
          <a:prstGeom prst="ellipse">
            <a:avLst/>
          </a:prstGeom>
          <a:solidFill>
            <a:srgbClr val="0092BC"/>
          </a:solidFill>
          <a:ln w="12700">
            <a:solidFill>
              <a:srgbClr val="0092BC"/>
            </a:solidFill>
            <a:prstDash val="solid"/>
          </a:ln>
        </p:spPr>
      </p:sp>
      <p:sp>
        <p:nvSpPr>
          <p:cNvPr id="11" name="Text 9"/>
          <p:cNvSpPr txBox="1"/>
          <p:nvPr/>
        </p:nvSpPr>
        <p:spPr>
          <a:xfrm>
            <a:off x="1005840" y="4187952"/>
            <a:ext cx="4754880" cy="731520"/>
          </a:xfrm>
          <a:prstGeom prst="rect">
            <a:avLst/>
          </a:prstGeom>
          <a:noFill/>
          <a:ln/>
        </p:spPr>
        <p:txBody>
          <a:bodyPr wrap="square" lIns="0" tIns="0" rIns="0" bIns="0" rtlCol="0" anchor="t"/>
          <a:lstStyle/>
          <a:p>
            <a:pPr indent="0" marL="0">
              <a:spcAft>
                <a:spcPts val="400"/>
              </a:spcAft>
              <a:buNone/>
            </a:pPr>
            <a:r>
              <a:rPr lang="en-US" sz="1500" b="1" dirty="0">
                <a:solidFill>
                  <a:srgbClr val="14213D"/>
                </a:solidFill>
                <a:latin typeface="Segoe UI" pitchFamily="34" charset="0"/>
                <a:ea typeface="Segoe UI" pitchFamily="34" charset="-122"/>
                <a:cs typeface="Segoe UI" pitchFamily="34" charset="-120"/>
              </a:rPr>
              <a:t>Explanations</a:t>
            </a:r>
            <a:endParaRPr lang="en-US" sz="1500" dirty="0"/>
          </a:p>
          <a:p>
            <a:pPr indent="0" marL="0">
              <a:spcAft>
                <a:spcPts val="400"/>
              </a:spcAft>
              <a:buNone/>
            </a:pPr>
            <a:r>
              <a:rPr lang="en-US" sz="1500" dirty="0">
                <a:solidFill>
                  <a:srgbClr val="64748B"/>
                </a:solidFill>
                <a:latin typeface="Segoe UI" pitchFamily="34" charset="0"/>
                <a:ea typeface="Segoe UI" pitchFamily="34" charset="-122"/>
                <a:cs typeface="Segoe UI" pitchFamily="34" charset="-120"/>
              </a:rPr>
              <a:t>why it is a scam, in 3 languages</a:t>
            </a:r>
            <a:endParaRPr lang="en-US" sz="1500" dirty="0"/>
          </a:p>
        </p:txBody>
      </p:sp>
      <p:sp>
        <p:nvSpPr>
          <p:cNvPr id="12" name="Shape 10"/>
          <p:cNvSpPr/>
          <p:nvPr/>
        </p:nvSpPr>
        <p:spPr>
          <a:xfrm>
            <a:off x="731520" y="5065776"/>
            <a:ext cx="137160" cy="137160"/>
          </a:xfrm>
          <a:prstGeom prst="ellipse">
            <a:avLst/>
          </a:prstGeom>
          <a:solidFill>
            <a:srgbClr val="0092BC"/>
          </a:solidFill>
          <a:ln w="12700">
            <a:solidFill>
              <a:srgbClr val="0092BC"/>
            </a:solidFill>
            <a:prstDash val="solid"/>
          </a:ln>
        </p:spPr>
      </p:sp>
      <p:sp>
        <p:nvSpPr>
          <p:cNvPr id="13" name="Text 11"/>
          <p:cNvSpPr txBox="1"/>
          <p:nvPr/>
        </p:nvSpPr>
        <p:spPr>
          <a:xfrm>
            <a:off x="1005840" y="4974336"/>
            <a:ext cx="4754880" cy="731520"/>
          </a:xfrm>
          <a:prstGeom prst="rect">
            <a:avLst/>
          </a:prstGeom>
          <a:noFill/>
          <a:ln/>
        </p:spPr>
        <p:txBody>
          <a:bodyPr wrap="square" lIns="0" tIns="0" rIns="0" bIns="0" rtlCol="0" anchor="t"/>
          <a:lstStyle/>
          <a:p>
            <a:pPr indent="0" marL="0">
              <a:spcAft>
                <a:spcPts val="400"/>
              </a:spcAft>
              <a:buNone/>
            </a:pPr>
            <a:r>
              <a:rPr lang="en-US" sz="1500" b="1" dirty="0">
                <a:solidFill>
                  <a:srgbClr val="14213D"/>
                </a:solidFill>
                <a:latin typeface="Segoe UI" pitchFamily="34" charset="0"/>
                <a:ea typeface="Segoe UI" pitchFamily="34" charset="-122"/>
                <a:cs typeface="Segoe UI" pitchFamily="34" charset="-120"/>
              </a:rPr>
              <a:t>Telegram bot</a:t>
            </a:r>
            <a:endParaRPr lang="en-US" sz="1500" dirty="0"/>
          </a:p>
          <a:p>
            <a:pPr indent="0" marL="0">
              <a:spcAft>
                <a:spcPts val="400"/>
              </a:spcAft>
              <a:buNone/>
            </a:pPr>
            <a:r>
              <a:rPr lang="en-US" sz="1500" dirty="0">
                <a:solidFill>
                  <a:srgbClr val="64748B"/>
                </a:solidFill>
                <a:latin typeface="Segoe UI" pitchFamily="34" charset="0"/>
                <a:ea typeface="Segoe UI" pitchFamily="34" charset="-122"/>
                <a:cs typeface="Segoe UI" pitchFamily="34" charset="-120"/>
              </a:rPr>
              <a:t>subscribers check any SMS</a:t>
            </a:r>
            <a:endParaRPr lang="en-US" sz="1500" dirty="0"/>
          </a:p>
        </p:txBody>
      </p:sp>
      <p:sp>
        <p:nvSpPr>
          <p:cNvPr id="14" name="Shape 12"/>
          <p:cNvSpPr/>
          <p:nvPr/>
        </p:nvSpPr>
        <p:spPr>
          <a:xfrm>
            <a:off x="6126480" y="1828800"/>
            <a:ext cx="3291840" cy="777240"/>
          </a:xfrm>
          <a:prstGeom prst="roundRect">
            <a:avLst>
              <a:gd name="adj" fmla="val 9412"/>
            </a:avLst>
          </a:prstGeom>
          <a:solidFill>
            <a:srgbClr val="F4F7FB"/>
          </a:solidFill>
          <a:ln w="12700">
            <a:solidFill>
              <a:srgbClr val="F4F7FB"/>
            </a:solidFill>
            <a:prstDash val="solid"/>
          </a:ln>
        </p:spPr>
      </p:sp>
      <p:sp>
        <p:nvSpPr>
          <p:cNvPr id="15" name="Text 13"/>
          <p:cNvSpPr txBox="1"/>
          <p:nvPr/>
        </p:nvSpPr>
        <p:spPr>
          <a:xfrm>
            <a:off x="6309360" y="1920240"/>
            <a:ext cx="3017520" cy="640080"/>
          </a:xfrm>
          <a:prstGeom prst="rect">
            <a:avLst/>
          </a:prstGeom>
          <a:noFill/>
          <a:ln/>
        </p:spPr>
        <p:txBody>
          <a:bodyPr wrap="square" lIns="0" tIns="0" rIns="0" bIns="0" rtlCol="0" anchor="t"/>
          <a:lstStyle/>
          <a:p>
            <a:pPr indent="0" marL="0">
              <a:spcAft>
                <a:spcPts val="400"/>
              </a:spcAft>
              <a:buNone/>
            </a:pPr>
            <a:r>
              <a:rPr lang="en-US" sz="1400" b="1" dirty="0">
                <a:solidFill>
                  <a:srgbClr val="14213D"/>
                </a:solidFill>
                <a:latin typeface="Segoe UI" pitchFamily="34" charset="0"/>
                <a:ea typeface="Segoe UI" pitchFamily="34" charset="-122"/>
                <a:cs typeface="Segoe UI" pitchFamily="34" charset="-120"/>
              </a:rPr>
              <a:t>SMS</a:t>
            </a:r>
            <a:endParaRPr lang="en-US" sz="1400" dirty="0"/>
          </a:p>
          <a:p>
            <a:pPr indent="0" marL="0">
              <a:spcAft>
                <a:spcPts val="400"/>
              </a:spcAft>
              <a:buNone/>
            </a:pPr>
            <a:r>
              <a:rPr lang="en-US" sz="1150" dirty="0">
                <a:solidFill>
                  <a:srgbClr val="64748B"/>
                </a:solidFill>
                <a:latin typeface="Segoe UI" pitchFamily="34" charset="0"/>
                <a:ea typeface="Segoe UI" pitchFamily="34" charset="-122"/>
                <a:cs typeface="Segoe UI" pitchFamily="34" charset="-120"/>
              </a:rPr>
              <a:t>network traffic or a subscriber report</a:t>
            </a:r>
            <a:endParaRPr lang="en-US" sz="1400" dirty="0"/>
          </a:p>
        </p:txBody>
      </p:sp>
      <p:sp>
        <p:nvSpPr>
          <p:cNvPr id="16" name="Shape 14"/>
          <p:cNvSpPr/>
          <p:nvPr/>
        </p:nvSpPr>
        <p:spPr>
          <a:xfrm>
            <a:off x="7772400" y="2624328"/>
            <a:ext cx="914" cy="210312"/>
          </a:xfrm>
          <a:prstGeom prst="line">
            <a:avLst/>
          </a:prstGeom>
          <a:noFill/>
          <a:ln w="22225">
            <a:solidFill>
              <a:srgbClr val="94A3B8"/>
            </a:solidFill>
            <a:prstDash val="solid"/>
            <a:tailEnd type="triangle"/>
          </a:ln>
        </p:spPr>
      </p:sp>
      <p:sp>
        <p:nvSpPr>
          <p:cNvPr id="17" name="Shape 15"/>
          <p:cNvSpPr/>
          <p:nvPr/>
        </p:nvSpPr>
        <p:spPr>
          <a:xfrm>
            <a:off x="6126480" y="2852928"/>
            <a:ext cx="3291840" cy="777240"/>
          </a:xfrm>
          <a:prstGeom prst="roundRect">
            <a:avLst>
              <a:gd name="adj" fmla="val 9412"/>
            </a:avLst>
          </a:prstGeom>
          <a:solidFill>
            <a:srgbClr val="F4F7FB"/>
          </a:solidFill>
          <a:ln w="12700">
            <a:solidFill>
              <a:srgbClr val="F4F7FB"/>
            </a:solidFill>
            <a:prstDash val="solid"/>
          </a:ln>
        </p:spPr>
      </p:sp>
      <p:sp>
        <p:nvSpPr>
          <p:cNvPr id="18" name="Text 16"/>
          <p:cNvSpPr txBox="1"/>
          <p:nvPr/>
        </p:nvSpPr>
        <p:spPr>
          <a:xfrm>
            <a:off x="6309360" y="2944368"/>
            <a:ext cx="3017520" cy="640080"/>
          </a:xfrm>
          <a:prstGeom prst="rect">
            <a:avLst/>
          </a:prstGeom>
          <a:noFill/>
          <a:ln/>
        </p:spPr>
        <p:txBody>
          <a:bodyPr wrap="square" lIns="0" tIns="0" rIns="0" bIns="0" rtlCol="0" anchor="t"/>
          <a:lstStyle/>
          <a:p>
            <a:pPr indent="0" marL="0">
              <a:spcAft>
                <a:spcPts val="400"/>
              </a:spcAft>
              <a:buNone/>
            </a:pPr>
            <a:r>
              <a:rPr lang="en-US" sz="1400" b="1" dirty="0">
                <a:solidFill>
                  <a:srgbClr val="14213D"/>
                </a:solidFill>
                <a:latin typeface="Segoe UI" pitchFamily="34" charset="0"/>
                <a:ea typeface="Segoe UI" pitchFamily="34" charset="-122"/>
                <a:cs typeface="Segoe UI" pitchFamily="34" charset="-120"/>
              </a:rPr>
              <a:t>Normalize + risk signals</a:t>
            </a:r>
            <a:endParaRPr lang="en-US" sz="1400" dirty="0"/>
          </a:p>
          <a:p>
            <a:pPr indent="0" marL="0">
              <a:spcAft>
                <a:spcPts val="400"/>
              </a:spcAft>
              <a:buNone/>
            </a:pPr>
            <a:r>
              <a:rPr lang="en-US" sz="1150" dirty="0">
                <a:solidFill>
                  <a:srgbClr val="64748B"/>
                </a:solidFill>
                <a:latin typeface="Segoe UI" pitchFamily="34" charset="0"/>
                <a:ea typeface="Segoe UI" pitchFamily="34" charset="-122"/>
                <a:cs typeface="Segoe UI" pitchFamily="34" charset="-120"/>
              </a:rPr>
              <a:t>undo letter swaps; spot fake links, code requests</a:t>
            </a:r>
            <a:endParaRPr lang="en-US" sz="1400" dirty="0"/>
          </a:p>
        </p:txBody>
      </p:sp>
      <p:sp>
        <p:nvSpPr>
          <p:cNvPr id="19" name="Shape 17"/>
          <p:cNvSpPr/>
          <p:nvPr/>
        </p:nvSpPr>
        <p:spPr>
          <a:xfrm>
            <a:off x="7772400" y="3648456"/>
            <a:ext cx="914" cy="210312"/>
          </a:xfrm>
          <a:prstGeom prst="line">
            <a:avLst/>
          </a:prstGeom>
          <a:noFill/>
          <a:ln w="22225">
            <a:solidFill>
              <a:srgbClr val="94A3B8"/>
            </a:solidFill>
            <a:prstDash val="solid"/>
            <a:tailEnd type="triangle"/>
          </a:ln>
        </p:spPr>
      </p:sp>
      <p:sp>
        <p:nvSpPr>
          <p:cNvPr id="20" name="Shape 18"/>
          <p:cNvSpPr/>
          <p:nvPr/>
        </p:nvSpPr>
        <p:spPr>
          <a:xfrm>
            <a:off x="6126480" y="3877056"/>
            <a:ext cx="3291840" cy="777240"/>
          </a:xfrm>
          <a:prstGeom prst="roundRect">
            <a:avLst>
              <a:gd name="adj" fmla="val 9412"/>
            </a:avLst>
          </a:prstGeom>
          <a:solidFill>
            <a:srgbClr val="E7F6EF"/>
          </a:solidFill>
          <a:ln w="15875">
            <a:solidFill>
              <a:srgbClr val="00A862"/>
            </a:solidFill>
            <a:prstDash val="solid"/>
          </a:ln>
        </p:spPr>
      </p:sp>
      <p:sp>
        <p:nvSpPr>
          <p:cNvPr id="21" name="Text 19"/>
          <p:cNvSpPr txBox="1"/>
          <p:nvPr/>
        </p:nvSpPr>
        <p:spPr>
          <a:xfrm>
            <a:off x="6309360" y="3968496"/>
            <a:ext cx="3017520" cy="640080"/>
          </a:xfrm>
          <a:prstGeom prst="rect">
            <a:avLst/>
          </a:prstGeom>
          <a:noFill/>
          <a:ln/>
        </p:spPr>
        <p:txBody>
          <a:bodyPr wrap="square" lIns="0" tIns="0" rIns="0" bIns="0" rtlCol="0" anchor="t"/>
          <a:lstStyle/>
          <a:p>
            <a:pPr indent="0" marL="0">
              <a:spcAft>
                <a:spcPts val="400"/>
              </a:spcAft>
              <a:buNone/>
            </a:pPr>
            <a:r>
              <a:rPr lang="en-US" sz="1400" b="1" dirty="0">
                <a:solidFill>
                  <a:srgbClr val="14213D"/>
                </a:solidFill>
                <a:latin typeface="Segoe UI" pitchFamily="34" charset="0"/>
                <a:ea typeface="Segoe UI" pitchFamily="34" charset="-122"/>
                <a:cs typeface="Segoe UI" pitchFamily="34" charset="-120"/>
              </a:rPr>
              <a:t>Our model, trained by us</a:t>
            </a:r>
            <a:endParaRPr lang="en-US" sz="1400" dirty="0"/>
          </a:p>
          <a:p>
            <a:pPr indent="0" marL="0">
              <a:spcAft>
                <a:spcPts val="400"/>
              </a:spcAft>
              <a:buNone/>
            </a:pPr>
            <a:r>
              <a:rPr lang="en-US" sz="1150" dirty="0">
                <a:solidFill>
                  <a:srgbClr val="64748B"/>
                </a:solidFill>
                <a:latin typeface="Segoe UI" pitchFamily="34" charset="0"/>
                <a:ea typeface="Segoe UI" pitchFamily="34" charset="-122"/>
                <a:cs typeface="Segoe UI" pitchFamily="34" charset="-120"/>
              </a:rPr>
              <a:t>97.6% of messages, ~0.3 ms each</a:t>
            </a:r>
            <a:endParaRPr lang="en-US" sz="1400" dirty="0"/>
          </a:p>
        </p:txBody>
      </p:sp>
      <p:sp>
        <p:nvSpPr>
          <p:cNvPr id="22" name="Shape 20"/>
          <p:cNvSpPr/>
          <p:nvPr/>
        </p:nvSpPr>
        <p:spPr>
          <a:xfrm>
            <a:off x="7772400" y="4672584"/>
            <a:ext cx="914" cy="210312"/>
          </a:xfrm>
          <a:prstGeom prst="line">
            <a:avLst/>
          </a:prstGeom>
          <a:noFill/>
          <a:ln w="22225">
            <a:solidFill>
              <a:srgbClr val="94A3B8"/>
            </a:solidFill>
            <a:prstDash val="solid"/>
            <a:tailEnd type="triangle"/>
          </a:ln>
        </p:spPr>
      </p:sp>
      <p:sp>
        <p:nvSpPr>
          <p:cNvPr id="23" name="Shape 21"/>
          <p:cNvSpPr/>
          <p:nvPr/>
        </p:nvSpPr>
        <p:spPr>
          <a:xfrm>
            <a:off x="6126480" y="4901184"/>
            <a:ext cx="3291840" cy="777240"/>
          </a:xfrm>
          <a:prstGeom prst="roundRect">
            <a:avLst>
              <a:gd name="adj" fmla="val 9412"/>
            </a:avLst>
          </a:prstGeom>
          <a:solidFill>
            <a:srgbClr val="E6F4F9"/>
          </a:solidFill>
          <a:ln w="15875">
            <a:solidFill>
              <a:srgbClr val="0092BC"/>
            </a:solidFill>
            <a:prstDash val="solid"/>
          </a:ln>
        </p:spPr>
      </p:sp>
      <p:sp>
        <p:nvSpPr>
          <p:cNvPr id="24" name="Text 22"/>
          <p:cNvSpPr txBox="1"/>
          <p:nvPr/>
        </p:nvSpPr>
        <p:spPr>
          <a:xfrm>
            <a:off x="6309360" y="4992624"/>
            <a:ext cx="3017520" cy="640080"/>
          </a:xfrm>
          <a:prstGeom prst="rect">
            <a:avLst/>
          </a:prstGeom>
          <a:noFill/>
          <a:ln/>
        </p:spPr>
        <p:txBody>
          <a:bodyPr wrap="square" lIns="0" tIns="0" rIns="0" bIns="0" rtlCol="0" anchor="t"/>
          <a:lstStyle/>
          <a:p>
            <a:pPr indent="0" marL="0">
              <a:spcAft>
                <a:spcPts val="400"/>
              </a:spcAft>
              <a:buNone/>
            </a:pPr>
            <a:r>
              <a:rPr lang="en-US" sz="1400" b="1" dirty="0">
                <a:solidFill>
                  <a:srgbClr val="14213D"/>
                </a:solidFill>
                <a:latin typeface="Segoe UI" pitchFamily="34" charset="0"/>
                <a:ea typeface="Segoe UI" pitchFamily="34" charset="-122"/>
                <a:cs typeface="Segoe UI" pitchFamily="34" charset="-120"/>
              </a:rPr>
              <a:t>Campaign</a:t>
            </a:r>
            <a:endParaRPr lang="en-US" sz="1400" dirty="0"/>
          </a:p>
          <a:p>
            <a:pPr indent="0" marL="0">
              <a:spcAft>
                <a:spcPts val="400"/>
              </a:spcAft>
              <a:buNone/>
            </a:pPr>
            <a:r>
              <a:rPr lang="en-US" sz="1150" dirty="0">
                <a:solidFill>
                  <a:srgbClr val="64748B"/>
                </a:solidFill>
                <a:latin typeface="Segoe UI" pitchFamily="34" charset="0"/>
                <a:ea typeface="Segoe UI" pitchFamily="34" charset="-122"/>
                <a:cs typeface="Segoe UI" pitchFamily="34" charset="-120"/>
              </a:rPr>
              <a:t>dashboard · block · warn · explain</a:t>
            </a:r>
            <a:endParaRPr lang="en-US" sz="1400" dirty="0"/>
          </a:p>
        </p:txBody>
      </p:sp>
      <p:sp>
        <p:nvSpPr>
          <p:cNvPr id="25" name="Shape 23"/>
          <p:cNvSpPr/>
          <p:nvPr/>
        </p:nvSpPr>
        <p:spPr>
          <a:xfrm>
            <a:off x="9445752" y="4270248"/>
            <a:ext cx="320040" cy="914"/>
          </a:xfrm>
          <a:prstGeom prst="line">
            <a:avLst/>
          </a:prstGeom>
          <a:noFill/>
          <a:ln w="22225">
            <a:solidFill>
              <a:srgbClr val="94A3B8"/>
            </a:solidFill>
            <a:prstDash val="solid"/>
            <a:tailEnd type="triangle"/>
          </a:ln>
        </p:spPr>
      </p:sp>
      <p:sp>
        <p:nvSpPr>
          <p:cNvPr id="26" name="Shape 24"/>
          <p:cNvSpPr/>
          <p:nvPr/>
        </p:nvSpPr>
        <p:spPr>
          <a:xfrm>
            <a:off x="9802368" y="3877056"/>
            <a:ext cx="1463040" cy="777240"/>
          </a:xfrm>
          <a:prstGeom prst="roundRect">
            <a:avLst>
              <a:gd name="adj" fmla="val 9412"/>
            </a:avLst>
          </a:prstGeom>
          <a:solidFill>
            <a:srgbClr val="FDF3E1"/>
          </a:solidFill>
          <a:ln w="15875">
            <a:solidFill>
              <a:srgbClr val="E39A00"/>
            </a:solidFill>
            <a:prstDash val="solid"/>
          </a:ln>
        </p:spPr>
      </p:sp>
      <p:sp>
        <p:nvSpPr>
          <p:cNvPr id="27" name="Text 25"/>
          <p:cNvSpPr txBox="1"/>
          <p:nvPr/>
        </p:nvSpPr>
        <p:spPr>
          <a:xfrm>
            <a:off x="9921240" y="3968496"/>
            <a:ext cx="1280160" cy="640080"/>
          </a:xfrm>
          <a:prstGeom prst="rect">
            <a:avLst/>
          </a:prstGeom>
          <a:noFill/>
          <a:ln/>
        </p:spPr>
        <p:txBody>
          <a:bodyPr wrap="square" lIns="0" tIns="0" rIns="0" bIns="0" rtlCol="0" anchor="t"/>
          <a:lstStyle/>
          <a:p>
            <a:pPr indent="0" marL="0">
              <a:spcAft>
                <a:spcPts val="400"/>
              </a:spcAft>
              <a:buNone/>
            </a:pPr>
            <a:r>
              <a:rPr lang="en-US" sz="1400" b="1" dirty="0">
                <a:solidFill>
                  <a:srgbClr val="14213D"/>
                </a:solidFill>
                <a:latin typeface="Segoe UI" pitchFamily="34" charset="0"/>
                <a:ea typeface="Segoe UI" pitchFamily="34" charset="-122"/>
                <a:cs typeface="Segoe UI" pitchFamily="34" charset="-120"/>
              </a:rPr>
              <a:t>Gemini</a:t>
            </a:r>
            <a:endParaRPr lang="en-US" sz="1400" dirty="0"/>
          </a:p>
          <a:p>
            <a:pPr indent="0" marL="0">
              <a:spcAft>
                <a:spcPts val="400"/>
              </a:spcAft>
              <a:buNone/>
            </a:pPr>
            <a:r>
              <a:rPr lang="en-US" sz="1150" dirty="0">
                <a:solidFill>
                  <a:srgbClr val="64748B"/>
                </a:solidFill>
                <a:latin typeface="Segoe UI" pitchFamily="34" charset="0"/>
                <a:ea typeface="Segoe UI" pitchFamily="34" charset="-122"/>
                <a:cs typeface="Segoe UI" pitchFamily="34" charset="-120"/>
              </a:rPr>
              <a:t>2.4% grey zone</a:t>
            </a:r>
            <a:endParaRPr lang="en-US" sz="1400" dirty="0"/>
          </a:p>
        </p:txBody>
      </p:sp>
      <p:sp>
        <p:nvSpPr>
          <p:cNvPr id="25" name="Slide Number Placeholder 0"/>
          <p:cNvSpPr>
            <a:spLocks noGrp="1"/>
          </p:cNvSpPr>
          <p:nvPr>
            <p:ph type="sldNum" sz="quarter" idx="4294967295"/>
          </p:nvPr>
        </p:nvSpPr>
        <p:spPr>
          <a:xfrm>
            <a:off x="1091153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0092BC"/>
                </a:solidFill>
                <a:latin typeface="Segoe UI" pitchFamily="34" charset="0"/>
                <a:ea typeface="Segoe UI" pitchFamily="34" charset="-122"/>
                <a:cs typeface="Segoe UI" pitchFamily="34" charset="-120"/>
              </a:rPr>
              <a:t>WORKING PROTOTYPE</a:t>
            </a:r>
            <a:endParaRPr lang="en-US" sz="1100" dirty="0"/>
          </a:p>
        </p:txBody>
      </p:sp>
      <p:sp>
        <p:nvSpPr>
          <p:cNvPr id="3" name="Text 1"/>
          <p:cNvSpPr txBox="1"/>
          <p:nvPr/>
        </p:nvSpPr>
        <p:spPr>
          <a:xfrm>
            <a:off x="731520" y="777240"/>
            <a:ext cx="10728655" cy="731520"/>
          </a:xfrm>
          <a:prstGeom prst="rect">
            <a:avLst/>
          </a:prstGeom>
          <a:noFill/>
          <a:ln/>
        </p:spPr>
        <p:txBody>
          <a:bodyPr wrap="square" lIns="0" tIns="0" rIns="0" bIns="0" rtlCol="0" anchor="t"/>
          <a:lstStyle/>
          <a:p>
            <a:pPr indent="0" marL="0">
              <a:buNone/>
            </a:pPr>
            <a:r>
              <a:rPr lang="en-US" sz="3000" b="1" dirty="0">
                <a:solidFill>
                  <a:srgbClr val="14213D"/>
                </a:solidFill>
                <a:latin typeface="Georgia" pitchFamily="34" charset="0"/>
                <a:ea typeface="Georgia" pitchFamily="34" charset="-122"/>
                <a:cs typeface="Georgia" pitchFamily="34" charset="-120"/>
              </a:rPr>
              <a:t>Live: a scam campaign hits the network</a:t>
            </a:r>
            <a:endParaRPr lang="en-US" sz="3000" dirty="0"/>
          </a:p>
        </p:txBody>
      </p:sp>
      <p:sp>
        <p:nvSpPr>
          <p:cNvPr id="4" name="Shape 2"/>
          <p:cNvSpPr/>
          <p:nvPr/>
        </p:nvSpPr>
        <p:spPr>
          <a:xfrm>
            <a:off x="694944" y="1746504"/>
            <a:ext cx="6931152" cy="4160520"/>
          </a:xfrm>
          <a:prstGeom prst="rect">
            <a:avLst/>
          </a:prstGeom>
          <a:solidFill>
            <a:srgbClr val="FFFFFF"/>
          </a:solidFill>
          <a:ln w="12700">
            <a:solidFill>
              <a:srgbClr val="CBD5E1"/>
            </a:solidFill>
            <a:prstDash val="solid"/>
          </a:ln>
          <a:effectLst>
            <a:outerShdw sx="100000" sy="100000" kx="0" ky="0" algn="bl" rotWithShape="0" blurRad="152400" dist="50800" dir="5400000">
              <a:srgbClr val="94A3B8">
                <a:alpha val="35000"/>
              </a:srgbClr>
            </a:outerShdw>
          </a:effectLst>
        </p:spPr>
      </p:sp>
      <p:pic>
        <p:nvPicPr>
          <p:cNvPr id="5" name="Image 0" descr="C:\Users\Farid\AppData\Local\Temp\claude\C--Users-Farid-Desktop-NeuroBridge\58c3fc73-66a9-429d-bd8b-adfbe2495c36\scratchpad\deck\dash_top.png">    </p:cNvPr>
          <p:cNvPicPr>
            <a:picLocks noChangeAspect="1"/>
          </p:cNvPicPr>
          <p:nvPr/>
        </p:nvPicPr>
        <p:blipFill>
          <a:blip r:embed="rId1"/>
          <a:stretch>
            <a:fillRect/>
          </a:stretch>
        </p:blipFill>
        <p:spPr>
          <a:xfrm>
            <a:off x="731520" y="1783080"/>
            <a:ext cx="6858000" cy="4087368"/>
          </a:xfrm>
          <a:prstGeom prst="rect">
            <a:avLst/>
          </a:prstGeom>
        </p:spPr>
      </p:pic>
      <p:sp>
        <p:nvSpPr>
          <p:cNvPr id="6" name="Text 3"/>
          <p:cNvSpPr txBox="1"/>
          <p:nvPr/>
        </p:nvSpPr>
        <p:spPr>
          <a:xfrm>
            <a:off x="8001000" y="1828800"/>
            <a:ext cx="457200" cy="457200"/>
          </a:xfrm>
          <a:prstGeom prst="rect">
            <a:avLst/>
          </a:prstGeom>
          <a:noFill/>
          <a:ln/>
        </p:spPr>
        <p:txBody>
          <a:bodyPr wrap="square" lIns="0" tIns="0" rIns="0" bIns="0" rtlCol="0" anchor="ctr"/>
          <a:lstStyle/>
          <a:p>
            <a:pPr indent="0" marL="0">
              <a:buNone/>
            </a:pPr>
            <a:r>
              <a:rPr lang="en-US" sz="2600" b="1" dirty="0">
                <a:solidFill>
                  <a:srgbClr val="0092BC"/>
                </a:solidFill>
                <a:latin typeface="Georgia" pitchFamily="34" charset="0"/>
                <a:ea typeface="Georgia" pitchFamily="34" charset="-122"/>
                <a:cs typeface="Georgia" pitchFamily="34" charset="-120"/>
              </a:rPr>
              <a:t>1</a:t>
            </a:r>
            <a:endParaRPr lang="en-US" sz="2600" dirty="0"/>
          </a:p>
        </p:txBody>
      </p:sp>
      <p:sp>
        <p:nvSpPr>
          <p:cNvPr id="7" name="Text 4"/>
          <p:cNvSpPr txBox="1"/>
          <p:nvPr/>
        </p:nvSpPr>
        <p:spPr>
          <a:xfrm>
            <a:off x="8503920" y="1856232"/>
            <a:ext cx="2971800" cy="868680"/>
          </a:xfrm>
          <a:prstGeom prst="rect">
            <a:avLst/>
          </a:prstGeom>
          <a:noFill/>
          <a:ln/>
        </p:spPr>
        <p:txBody>
          <a:bodyPr wrap="square" lIns="0" tIns="0" rIns="0" bIns="0" rtlCol="0" anchor="t"/>
          <a:lstStyle/>
          <a:p>
            <a:pPr indent="0" marL="0">
              <a:spcAft>
                <a:spcPts val="400"/>
              </a:spcAft>
              <a:buNone/>
            </a:pPr>
            <a:r>
              <a:rPr lang="en-US" sz="1500" b="1" dirty="0">
                <a:solidFill>
                  <a:srgbClr val="14213D"/>
                </a:solidFill>
                <a:latin typeface="Segoe UI" pitchFamily="34" charset="0"/>
                <a:ea typeface="Segoe UI" pitchFamily="34" charset="-122"/>
                <a:cs typeface="Segoe UI" pitchFamily="34" charset="-120"/>
              </a:rPr>
              <a:t>Normal traffic</a:t>
            </a:r>
            <a:endParaRPr lang="en-US" sz="1500" dirty="0"/>
          </a:p>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bank codes, payments, chats</a:t>
            </a:r>
            <a:endParaRPr lang="en-US" sz="1500" dirty="0"/>
          </a:p>
        </p:txBody>
      </p:sp>
      <p:sp>
        <p:nvSpPr>
          <p:cNvPr id="8" name="Text 5"/>
          <p:cNvSpPr txBox="1"/>
          <p:nvPr/>
        </p:nvSpPr>
        <p:spPr>
          <a:xfrm>
            <a:off x="8001000" y="2834640"/>
            <a:ext cx="457200" cy="457200"/>
          </a:xfrm>
          <a:prstGeom prst="rect">
            <a:avLst/>
          </a:prstGeom>
          <a:noFill/>
          <a:ln/>
        </p:spPr>
        <p:txBody>
          <a:bodyPr wrap="square" lIns="0" tIns="0" rIns="0" bIns="0" rtlCol="0" anchor="ctr"/>
          <a:lstStyle/>
          <a:p>
            <a:pPr indent="0" marL="0">
              <a:buNone/>
            </a:pPr>
            <a:r>
              <a:rPr lang="en-US" sz="2600" b="1" dirty="0">
                <a:solidFill>
                  <a:srgbClr val="0092BC"/>
                </a:solidFill>
                <a:latin typeface="Georgia" pitchFamily="34" charset="0"/>
                <a:ea typeface="Georgia" pitchFamily="34" charset="-122"/>
                <a:cs typeface="Georgia" pitchFamily="34" charset="-120"/>
              </a:rPr>
              <a:t>2</a:t>
            </a:r>
            <a:endParaRPr lang="en-US" sz="2600" dirty="0"/>
          </a:p>
        </p:txBody>
      </p:sp>
      <p:sp>
        <p:nvSpPr>
          <p:cNvPr id="9" name="Text 6"/>
          <p:cNvSpPr txBox="1"/>
          <p:nvPr/>
        </p:nvSpPr>
        <p:spPr>
          <a:xfrm>
            <a:off x="8503920" y="2862072"/>
            <a:ext cx="2971800" cy="868680"/>
          </a:xfrm>
          <a:prstGeom prst="rect">
            <a:avLst/>
          </a:prstGeom>
          <a:noFill/>
          <a:ln/>
        </p:spPr>
        <p:txBody>
          <a:bodyPr wrap="square" lIns="0" tIns="0" rIns="0" bIns="0" rtlCol="0" anchor="t"/>
          <a:lstStyle/>
          <a:p>
            <a:pPr indent="0" marL="0">
              <a:spcAft>
                <a:spcPts val="400"/>
              </a:spcAft>
              <a:buNone/>
            </a:pPr>
            <a:r>
              <a:rPr lang="en-US" sz="1500" b="1" dirty="0">
                <a:solidFill>
                  <a:srgbClr val="14213D"/>
                </a:solidFill>
                <a:latin typeface="Segoe UI" pitchFamily="34" charset="0"/>
                <a:ea typeface="Segoe UI" pitchFamily="34" charset="-122"/>
                <a:cs typeface="Segoe UI" pitchFamily="34" charset="-120"/>
              </a:rPr>
              <a:t>The attack</a:t>
            </a:r>
            <a:endParaRPr lang="en-US" sz="1500" dirty="0"/>
          </a:p>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60 scam SMS, 3 rotating fake domains</a:t>
            </a:r>
            <a:endParaRPr lang="en-US" sz="1500" dirty="0"/>
          </a:p>
        </p:txBody>
      </p:sp>
      <p:sp>
        <p:nvSpPr>
          <p:cNvPr id="10" name="Text 7"/>
          <p:cNvSpPr txBox="1"/>
          <p:nvPr/>
        </p:nvSpPr>
        <p:spPr>
          <a:xfrm>
            <a:off x="8001000" y="3840480"/>
            <a:ext cx="457200" cy="457200"/>
          </a:xfrm>
          <a:prstGeom prst="rect">
            <a:avLst/>
          </a:prstGeom>
          <a:noFill/>
          <a:ln/>
        </p:spPr>
        <p:txBody>
          <a:bodyPr wrap="square" lIns="0" tIns="0" rIns="0" bIns="0" rtlCol="0" anchor="ctr"/>
          <a:lstStyle/>
          <a:p>
            <a:pPr indent="0" marL="0">
              <a:buNone/>
            </a:pPr>
            <a:r>
              <a:rPr lang="en-US" sz="2600" b="1" dirty="0">
                <a:solidFill>
                  <a:srgbClr val="0092BC"/>
                </a:solidFill>
                <a:latin typeface="Georgia" pitchFamily="34" charset="0"/>
                <a:ea typeface="Georgia" pitchFamily="34" charset="-122"/>
                <a:cs typeface="Georgia" pitchFamily="34" charset="-120"/>
              </a:rPr>
              <a:t>3</a:t>
            </a:r>
            <a:endParaRPr lang="en-US" sz="2600" dirty="0"/>
          </a:p>
        </p:txBody>
      </p:sp>
      <p:sp>
        <p:nvSpPr>
          <p:cNvPr id="11" name="Text 8"/>
          <p:cNvSpPr txBox="1"/>
          <p:nvPr/>
        </p:nvSpPr>
        <p:spPr>
          <a:xfrm>
            <a:off x="8503920" y="3867912"/>
            <a:ext cx="2971800" cy="868680"/>
          </a:xfrm>
          <a:prstGeom prst="rect">
            <a:avLst/>
          </a:prstGeom>
          <a:noFill/>
          <a:ln/>
        </p:spPr>
        <p:txBody>
          <a:bodyPr wrap="square" lIns="0" tIns="0" rIns="0" bIns="0" rtlCol="0" anchor="t"/>
          <a:lstStyle/>
          <a:p>
            <a:pPr indent="0" marL="0">
              <a:spcAft>
                <a:spcPts val="400"/>
              </a:spcAft>
              <a:buNone/>
            </a:pPr>
            <a:r>
              <a:rPr lang="en-US" sz="1500" b="1" dirty="0">
                <a:solidFill>
                  <a:srgbClr val="14213D"/>
                </a:solidFill>
                <a:latin typeface="Segoe UI" pitchFamily="34" charset="0"/>
                <a:ea typeface="Segoe UI" pitchFamily="34" charset="-122"/>
                <a:cs typeface="Segoe UI" pitchFamily="34" charset="-120"/>
              </a:rPr>
              <a:t>Seconds later</a:t>
            </a:r>
            <a:endParaRPr lang="en-US" sz="1500" dirty="0"/>
          </a:p>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one campaign card: 54 / 54 caught, keyword filter 17</a:t>
            </a:r>
            <a:endParaRPr lang="en-US" sz="1500" dirty="0"/>
          </a:p>
        </p:txBody>
      </p:sp>
      <p:sp>
        <p:nvSpPr>
          <p:cNvPr id="12" name="Text 9"/>
          <p:cNvSpPr txBox="1"/>
          <p:nvPr/>
        </p:nvSpPr>
        <p:spPr>
          <a:xfrm>
            <a:off x="8001000" y="4846320"/>
            <a:ext cx="457200" cy="457200"/>
          </a:xfrm>
          <a:prstGeom prst="rect">
            <a:avLst/>
          </a:prstGeom>
          <a:noFill/>
          <a:ln/>
        </p:spPr>
        <p:txBody>
          <a:bodyPr wrap="square" lIns="0" tIns="0" rIns="0" bIns="0" rtlCol="0" anchor="ctr"/>
          <a:lstStyle/>
          <a:p>
            <a:pPr indent="0" marL="0">
              <a:buNone/>
            </a:pPr>
            <a:r>
              <a:rPr lang="en-US" sz="2600" b="1" dirty="0">
                <a:solidFill>
                  <a:srgbClr val="0092BC"/>
                </a:solidFill>
                <a:latin typeface="Georgia" pitchFamily="34" charset="0"/>
                <a:ea typeface="Georgia" pitchFamily="34" charset="-122"/>
                <a:cs typeface="Georgia" pitchFamily="34" charset="-120"/>
              </a:rPr>
              <a:t>4</a:t>
            </a:r>
            <a:endParaRPr lang="en-US" sz="2600" dirty="0"/>
          </a:p>
        </p:txBody>
      </p:sp>
      <p:sp>
        <p:nvSpPr>
          <p:cNvPr id="13" name="Text 10"/>
          <p:cNvSpPr txBox="1"/>
          <p:nvPr/>
        </p:nvSpPr>
        <p:spPr>
          <a:xfrm>
            <a:off x="8503920" y="4873752"/>
            <a:ext cx="2971800" cy="868680"/>
          </a:xfrm>
          <a:prstGeom prst="rect">
            <a:avLst/>
          </a:prstGeom>
          <a:noFill/>
          <a:ln/>
        </p:spPr>
        <p:txBody>
          <a:bodyPr wrap="square" lIns="0" tIns="0" rIns="0" bIns="0" rtlCol="0" anchor="t"/>
          <a:lstStyle/>
          <a:p>
            <a:pPr indent="0" marL="0">
              <a:spcAft>
                <a:spcPts val="400"/>
              </a:spcAft>
              <a:buNone/>
            </a:pPr>
            <a:r>
              <a:rPr lang="en-US" sz="1500" b="1" dirty="0">
                <a:solidFill>
                  <a:srgbClr val="14213D"/>
                </a:solidFill>
                <a:latin typeface="Segoe UI" pitchFamily="34" charset="0"/>
                <a:ea typeface="Segoe UI" pitchFamily="34" charset="-122"/>
                <a:cs typeface="Segoe UI" pitchFamily="34" charset="-120"/>
              </a:rPr>
              <a:t>Analyst acts</a:t>
            </a:r>
            <a:endParaRPr lang="en-US" sz="1500" dirty="0"/>
          </a:p>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block, then warn every recipient</a:t>
            </a:r>
            <a:endParaRPr lang="en-US" sz="1500" dirty="0"/>
          </a:p>
        </p:txBody>
      </p:sp>
      <p:sp>
        <p:nvSpPr>
          <p:cNvPr id="25" name="Slide Number Placeholder 0"/>
          <p:cNvSpPr>
            <a:spLocks noGrp="1"/>
          </p:cNvSpPr>
          <p:nvPr>
            <p:ph type="sldNum" sz="quarter" idx="4294967295"/>
          </p:nvPr>
        </p:nvSpPr>
        <p:spPr>
          <a:xfrm>
            <a:off x="1091153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00A862"/>
                </a:solidFill>
                <a:latin typeface="Segoe UI" pitchFamily="34" charset="0"/>
                <a:ea typeface="Segoe UI" pitchFamily="34" charset="-122"/>
                <a:cs typeface="Segoe UI" pitchFamily="34" charset="-120"/>
              </a:rPr>
              <a:t>QUALITY TESTING</a:t>
            </a:r>
            <a:endParaRPr lang="en-US" sz="1100" dirty="0"/>
          </a:p>
        </p:txBody>
      </p:sp>
      <p:sp>
        <p:nvSpPr>
          <p:cNvPr id="3" name="Text 1"/>
          <p:cNvSpPr txBox="1"/>
          <p:nvPr/>
        </p:nvSpPr>
        <p:spPr>
          <a:xfrm>
            <a:off x="731520" y="777240"/>
            <a:ext cx="10728655" cy="731520"/>
          </a:xfrm>
          <a:prstGeom prst="rect">
            <a:avLst/>
          </a:prstGeom>
          <a:noFill/>
          <a:ln/>
        </p:spPr>
        <p:txBody>
          <a:bodyPr wrap="square" lIns="0" tIns="0" rIns="0" bIns="0" rtlCol="0" anchor="t"/>
          <a:lstStyle/>
          <a:p>
            <a:pPr indent="0" marL="0">
              <a:buNone/>
            </a:pPr>
            <a:r>
              <a:rPr lang="en-US" sz="3000" b="1" dirty="0">
                <a:solidFill>
                  <a:srgbClr val="14213D"/>
                </a:solidFill>
                <a:latin typeface="Georgia" pitchFamily="34" charset="0"/>
                <a:ea typeface="Georgia" pitchFamily="34" charset="-122"/>
                <a:cs typeface="Georgia" pitchFamily="34" charset="-120"/>
              </a:rPr>
              <a:t>Tested against what operators use today</a:t>
            </a:r>
            <a:endParaRPr lang="en-US" sz="3000" dirty="0"/>
          </a:p>
        </p:txBody>
      </p:sp>
      <p:sp>
        <p:nvSpPr>
          <p:cNvPr id="4" name="Shape 2"/>
          <p:cNvSpPr/>
          <p:nvPr/>
        </p:nvSpPr>
        <p:spPr>
          <a:xfrm>
            <a:off x="731520" y="1737360"/>
            <a:ext cx="5257800" cy="4023360"/>
          </a:xfrm>
          <a:prstGeom prst="roundRect">
            <a:avLst>
              <a:gd name="adj" fmla="val 1818"/>
            </a:avLst>
          </a:prstGeom>
          <a:solidFill>
            <a:srgbClr val="F4F7FB"/>
          </a:solidFill>
          <a:ln w="12700">
            <a:solidFill>
              <a:srgbClr val="F4F7FB"/>
            </a:solidFill>
            <a:prstDash val="solid"/>
          </a:ln>
        </p:spPr>
      </p:sp>
      <p:sp>
        <p:nvSpPr>
          <p:cNvPr id="5" name="Text 3"/>
          <p:cNvSpPr txBox="1"/>
          <p:nvPr/>
        </p:nvSpPr>
        <p:spPr>
          <a:xfrm>
            <a:off x="960120" y="1874520"/>
            <a:ext cx="4846320" cy="594360"/>
          </a:xfrm>
          <a:prstGeom prst="rect">
            <a:avLst/>
          </a:prstGeom>
          <a:noFill/>
          <a:ln/>
        </p:spPr>
        <p:txBody>
          <a:bodyPr wrap="square" lIns="0" tIns="0" rIns="0" bIns="0" rtlCol="0" anchor="t"/>
          <a:lstStyle/>
          <a:p>
            <a:pPr indent="0" marL="0">
              <a:spcAft>
                <a:spcPts val="400"/>
              </a:spcAft>
              <a:buNone/>
            </a:pPr>
            <a:r>
              <a:rPr lang="en-US" sz="1600" b="1" dirty="0">
                <a:solidFill>
                  <a:srgbClr val="14213D"/>
                </a:solidFill>
                <a:latin typeface="Segoe UI" pitchFamily="34" charset="0"/>
                <a:ea typeface="Segoe UI" pitchFamily="34" charset="-122"/>
                <a:cs typeface="Segoe UI" pitchFamily="34" charset="-120"/>
              </a:rPr>
              <a:t>Test 1 · 70 SMS</a:t>
            </a:r>
            <a:endParaRPr lang="en-US" sz="1600" dirty="0"/>
          </a:p>
          <a:p>
            <a:pPr indent="0" marL="0">
              <a:spcAft>
                <a:spcPts val="400"/>
              </a:spcAft>
              <a:buNone/>
            </a:pPr>
            <a:r>
              <a:rPr lang="en-US" sz="1250" dirty="0">
                <a:solidFill>
                  <a:srgbClr val="64748B"/>
                </a:solidFill>
                <a:latin typeface="Segoe UI" pitchFamily="34" charset="0"/>
                <a:ea typeface="Segoe UI" pitchFamily="34" charset="-122"/>
                <a:cs typeface="Segoe UI" pitchFamily="34" charset="-120"/>
              </a:rPr>
              <a:t>real schemes documented by Azerbaijani authorities</a:t>
            </a:r>
            <a:endParaRPr lang="en-US" sz="1600" dirty="0"/>
          </a:p>
        </p:txBody>
      </p:sp>
      <p:graphicFrame>
        <p:nvGraphicFramePr>
          <p:cNvPr id="6" name="Chart 0" descr=""/>
          <p:cNvGraphicFramePr/>
          <p:nvPr/>
        </p:nvGraphicFramePr>
        <p:xfrm>
          <a:off x="868680" y="2514600"/>
          <a:ext cx="4983480" cy="31546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199632" y="1737360"/>
            <a:ext cx="5257800" cy="4023360"/>
          </a:xfrm>
          <a:prstGeom prst="roundRect">
            <a:avLst>
              <a:gd name="adj" fmla="val 1818"/>
            </a:avLst>
          </a:prstGeom>
          <a:solidFill>
            <a:srgbClr val="F4F7FB"/>
          </a:solidFill>
          <a:ln w="12700">
            <a:solidFill>
              <a:srgbClr val="F4F7FB"/>
            </a:solidFill>
            <a:prstDash val="solid"/>
          </a:ln>
        </p:spPr>
      </p:sp>
      <p:sp>
        <p:nvSpPr>
          <p:cNvPr id="8" name="Text 5"/>
          <p:cNvSpPr txBox="1"/>
          <p:nvPr/>
        </p:nvSpPr>
        <p:spPr>
          <a:xfrm>
            <a:off x="6428232" y="1874520"/>
            <a:ext cx="4846320" cy="594360"/>
          </a:xfrm>
          <a:prstGeom prst="rect">
            <a:avLst/>
          </a:prstGeom>
          <a:noFill/>
          <a:ln/>
        </p:spPr>
        <p:txBody>
          <a:bodyPr wrap="square" lIns="0" tIns="0" rIns="0" bIns="0" rtlCol="0" anchor="t"/>
          <a:lstStyle/>
          <a:p>
            <a:pPr indent="0" marL="0">
              <a:spcAft>
                <a:spcPts val="400"/>
              </a:spcAft>
              <a:buNone/>
            </a:pPr>
            <a:r>
              <a:rPr lang="en-US" sz="1600" b="1" dirty="0">
                <a:solidFill>
                  <a:srgbClr val="14213D"/>
                </a:solidFill>
                <a:latin typeface="Segoe UI" pitchFamily="34" charset="0"/>
                <a:ea typeface="Segoe UI" pitchFamily="34" charset="-122"/>
                <a:cs typeface="Segoe UI" pitchFamily="34" charset="-120"/>
              </a:rPr>
              <a:t>Test 2 · 873 held-out SMS</a:t>
            </a:r>
            <a:endParaRPr lang="en-US" sz="1600" dirty="0"/>
          </a:p>
          <a:p>
            <a:pPr indent="0" marL="0">
              <a:spcAft>
                <a:spcPts val="400"/>
              </a:spcAft>
              <a:buNone/>
            </a:pPr>
            <a:r>
              <a:rPr lang="en-US" sz="1250" dirty="0">
                <a:solidFill>
                  <a:srgbClr val="64748B"/>
                </a:solidFill>
                <a:latin typeface="Segoe UI" pitchFamily="34" charset="0"/>
                <a:ea typeface="Segoe UI" pitchFamily="34" charset="-122"/>
                <a:cs typeface="Segoe UI" pitchFamily="34" charset="-120"/>
              </a:rPr>
              <a:t>with traps: real bank codes, payment alerts, fines</a:t>
            </a:r>
            <a:endParaRPr lang="en-US" sz="1600" dirty="0"/>
          </a:p>
        </p:txBody>
      </p:sp>
      <p:graphicFrame>
        <p:nvGraphicFramePr>
          <p:cNvPr id="9" name="Chart 1" descr=""/>
          <p:cNvGraphicFramePr/>
          <p:nvPr/>
        </p:nvGraphicFramePr>
        <p:xfrm>
          <a:off x="6336792" y="2514600"/>
          <a:ext cx="4983480" cy="315468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731520" y="5897880"/>
            <a:ext cx="10698480" cy="274320"/>
          </a:xfrm>
          <a:prstGeom prst="rect">
            <a:avLst/>
          </a:prstGeom>
          <a:noFill/>
          <a:ln/>
        </p:spPr>
        <p:txBody>
          <a:bodyPr wrap="square" lIns="0" tIns="0" rIns="0" bIns="0" rtlCol="0" anchor="t"/>
          <a:lstStyle/>
          <a:p>
            <a:pPr indent="0" marL="0">
              <a:spcAft>
                <a:spcPts val="400"/>
              </a:spcAft>
              <a:buNone/>
            </a:pPr>
            <a:r>
              <a:rPr lang="en-US" sz="1200" dirty="0">
                <a:solidFill>
                  <a:srgbClr val="64748B"/>
                </a:solidFill>
                <a:latin typeface="Segoe UI" pitchFamily="34" charset="0"/>
                <a:ea typeface="Segoe UI" pitchFamily="34" charset="-122"/>
                <a:cs typeface="Segoe UI" pitchFamily="34" charset="-120"/>
              </a:rPr>
              <a:t>Test phrasings never appear in training · Gemini consulted for only 2.4% of messages</a:t>
            </a:r>
            <a:endParaRPr lang="en-US" sz="1200" dirty="0"/>
          </a:p>
        </p:txBody>
      </p:sp>
      <p:sp>
        <p:nvSpPr>
          <p:cNvPr id="25" name="Slide Number Placeholder 0"/>
          <p:cNvSpPr>
            <a:spLocks noGrp="1"/>
          </p:cNvSpPr>
          <p:nvPr>
            <p:ph type="sldNum" sz="quarter" idx="4294967295"/>
          </p:nvPr>
        </p:nvSpPr>
        <p:spPr>
          <a:xfrm>
            <a:off x="1091153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00A862"/>
                </a:solidFill>
                <a:latin typeface="Segoe UI" pitchFamily="34" charset="0"/>
                <a:ea typeface="Segoe UI" pitchFamily="34" charset="-122"/>
                <a:cs typeface="Segoe UI" pitchFamily="34" charset="-120"/>
              </a:rPr>
              <a:t>QUALITY TESTING</a:t>
            </a:r>
            <a:endParaRPr lang="en-US" sz="1100" dirty="0"/>
          </a:p>
        </p:txBody>
      </p:sp>
      <p:sp>
        <p:nvSpPr>
          <p:cNvPr id="3" name="Text 1"/>
          <p:cNvSpPr txBox="1"/>
          <p:nvPr/>
        </p:nvSpPr>
        <p:spPr>
          <a:xfrm>
            <a:off x="731520" y="777240"/>
            <a:ext cx="10728655" cy="731520"/>
          </a:xfrm>
          <a:prstGeom prst="rect">
            <a:avLst/>
          </a:prstGeom>
          <a:noFill/>
          <a:ln/>
        </p:spPr>
        <p:txBody>
          <a:bodyPr wrap="square" lIns="0" tIns="0" rIns="0" bIns="0" rtlCol="0" anchor="t"/>
          <a:lstStyle/>
          <a:p>
            <a:pPr indent="0" marL="0">
              <a:buNone/>
            </a:pPr>
            <a:r>
              <a:rPr lang="en-US" sz="3000" b="1" dirty="0">
                <a:solidFill>
                  <a:srgbClr val="14213D"/>
                </a:solidFill>
                <a:latin typeface="Georgia" pitchFamily="34" charset="0"/>
                <a:ea typeface="Georgia" pitchFamily="34" charset="-122"/>
                <a:cs typeface="Georgia" pitchFamily="34" charset="-120"/>
              </a:rPr>
              <a:t>What broke, and what we changed</a:t>
            </a:r>
            <a:endParaRPr lang="en-US" sz="3000" dirty="0"/>
          </a:p>
        </p:txBody>
      </p:sp>
      <p:sp>
        <p:nvSpPr>
          <p:cNvPr id="4" name="Shape 2"/>
          <p:cNvSpPr/>
          <p:nvPr/>
        </p:nvSpPr>
        <p:spPr>
          <a:xfrm>
            <a:off x="731520" y="1828800"/>
            <a:ext cx="5120640" cy="1051560"/>
          </a:xfrm>
          <a:prstGeom prst="roundRect">
            <a:avLst>
              <a:gd name="adj" fmla="val 6957"/>
            </a:avLst>
          </a:prstGeom>
          <a:solidFill>
            <a:srgbClr val="FDECEF"/>
          </a:solidFill>
          <a:ln w="12700">
            <a:solidFill>
              <a:srgbClr val="FDECEF"/>
            </a:solidFill>
            <a:prstDash val="solid"/>
          </a:ln>
        </p:spPr>
      </p:sp>
      <p:sp>
        <p:nvSpPr>
          <p:cNvPr id="5" name="Text 3"/>
          <p:cNvSpPr txBox="1"/>
          <p:nvPr/>
        </p:nvSpPr>
        <p:spPr>
          <a:xfrm>
            <a:off x="987552" y="1828800"/>
            <a:ext cx="4663440" cy="1051560"/>
          </a:xfrm>
          <a:prstGeom prst="rect">
            <a:avLst/>
          </a:prstGeom>
          <a:noFill/>
          <a:ln/>
        </p:spPr>
        <p:txBody>
          <a:bodyPr wrap="square" lIns="0" tIns="0" rIns="0" bIns="0" rtlCol="0" anchor="ctr"/>
          <a:lstStyle/>
          <a:p>
            <a:pPr indent="0" marL="0">
              <a:spcAft>
                <a:spcPts val="400"/>
              </a:spcAft>
              <a:buNone/>
            </a:pPr>
            <a:r>
              <a:rPr lang="en-US" sz="1500" dirty="0">
                <a:solidFill>
                  <a:srgbClr val="14213D"/>
                </a:solidFill>
                <a:latin typeface="Segoe UI" pitchFamily="34" charset="0"/>
                <a:ea typeface="Segoe UI" pitchFamily="34" charset="-122"/>
                <a:cs typeface="Segoe UI" pitchFamily="34" charset="-120"/>
              </a:rPr>
              <a:t>Missed new schemes that ask for data, not a click: «tell us your card digits», «install AnyDesk»</a:t>
            </a:r>
            <a:endParaRPr lang="en-US" sz="1500" dirty="0"/>
          </a:p>
        </p:txBody>
      </p:sp>
      <p:sp>
        <p:nvSpPr>
          <p:cNvPr id="6" name="Shape 4"/>
          <p:cNvSpPr/>
          <p:nvPr/>
        </p:nvSpPr>
        <p:spPr>
          <a:xfrm>
            <a:off x="5961888" y="2350008"/>
            <a:ext cx="457200" cy="914"/>
          </a:xfrm>
          <a:prstGeom prst="line">
            <a:avLst/>
          </a:prstGeom>
          <a:noFill/>
          <a:ln w="22225">
            <a:solidFill>
              <a:srgbClr val="94A3B8"/>
            </a:solidFill>
            <a:prstDash val="solid"/>
            <a:tailEnd type="triangle"/>
          </a:ln>
        </p:spPr>
      </p:sp>
      <p:sp>
        <p:nvSpPr>
          <p:cNvPr id="7" name="Shape 5"/>
          <p:cNvSpPr/>
          <p:nvPr/>
        </p:nvSpPr>
        <p:spPr>
          <a:xfrm>
            <a:off x="6537960" y="1828800"/>
            <a:ext cx="4919472" cy="1051560"/>
          </a:xfrm>
          <a:prstGeom prst="roundRect">
            <a:avLst>
              <a:gd name="adj" fmla="val 6957"/>
            </a:avLst>
          </a:prstGeom>
          <a:solidFill>
            <a:srgbClr val="E7F6EF"/>
          </a:solidFill>
          <a:ln w="12700">
            <a:solidFill>
              <a:srgbClr val="E7F6EF"/>
            </a:solidFill>
            <a:prstDash val="solid"/>
          </a:ln>
        </p:spPr>
      </p:sp>
      <p:sp>
        <p:nvSpPr>
          <p:cNvPr id="8" name="Text 6"/>
          <p:cNvSpPr txBox="1"/>
          <p:nvPr/>
        </p:nvSpPr>
        <p:spPr>
          <a:xfrm>
            <a:off x="6793992" y="1828800"/>
            <a:ext cx="4480560" cy="1051560"/>
          </a:xfrm>
          <a:prstGeom prst="rect">
            <a:avLst/>
          </a:prstGeom>
          <a:noFill/>
          <a:ln/>
        </p:spPr>
        <p:txBody>
          <a:bodyPr wrap="square" lIns="0" tIns="0" rIns="0" bIns="0" rtlCol="0" anchor="ctr"/>
          <a:lstStyle/>
          <a:p>
            <a:pPr indent="0" marL="0">
              <a:spcAft>
                <a:spcPts val="400"/>
              </a:spcAft>
              <a:buNone/>
            </a:pPr>
            <a:r>
              <a:rPr lang="en-US" sz="1500" dirty="0">
                <a:solidFill>
                  <a:srgbClr val="14213D"/>
                </a:solidFill>
                <a:latin typeface="Segoe UI" pitchFamily="34" charset="0"/>
                <a:ea typeface="Segoe UI" pitchFamily="34" charset="-122"/>
                <a:cs typeface="Segoe UI" pitchFamily="34" charset="-120"/>
              </a:rPr>
              <a:t>Such requests now always get a Gemini second opinion</a:t>
            </a:r>
            <a:endParaRPr lang="en-US" sz="1500" dirty="0"/>
          </a:p>
          <a:p>
            <a:pPr indent="0" marL="0">
              <a:spcAft>
                <a:spcPts val="400"/>
              </a:spcAft>
              <a:buNone/>
            </a:pPr>
            <a:r>
              <a:rPr lang="en-US" sz="1500" b="1" dirty="0">
                <a:solidFill>
                  <a:srgbClr val="00A862"/>
                </a:solidFill>
                <a:latin typeface="Segoe UI" pitchFamily="34" charset="0"/>
                <a:ea typeface="Segoe UI" pitchFamily="34" charset="-122"/>
                <a:cs typeface="Segoe UI" pitchFamily="34" charset="-120"/>
              </a:rPr>
              <a:t>85% → 97.5%</a:t>
            </a:r>
            <a:endParaRPr lang="en-US" sz="1500" dirty="0"/>
          </a:p>
        </p:txBody>
      </p:sp>
      <p:sp>
        <p:nvSpPr>
          <p:cNvPr id="9" name="Shape 7"/>
          <p:cNvSpPr/>
          <p:nvPr/>
        </p:nvSpPr>
        <p:spPr>
          <a:xfrm>
            <a:off x="731520" y="3154680"/>
            <a:ext cx="5120640" cy="1051560"/>
          </a:xfrm>
          <a:prstGeom prst="roundRect">
            <a:avLst>
              <a:gd name="adj" fmla="val 6957"/>
            </a:avLst>
          </a:prstGeom>
          <a:solidFill>
            <a:srgbClr val="FDECEF"/>
          </a:solidFill>
          <a:ln w="12700">
            <a:solidFill>
              <a:srgbClr val="FDECEF"/>
            </a:solidFill>
            <a:prstDash val="solid"/>
          </a:ln>
        </p:spPr>
      </p:sp>
      <p:sp>
        <p:nvSpPr>
          <p:cNvPr id="10" name="Text 8"/>
          <p:cNvSpPr txBox="1"/>
          <p:nvPr/>
        </p:nvSpPr>
        <p:spPr>
          <a:xfrm>
            <a:off x="987552" y="3154680"/>
            <a:ext cx="4663440" cy="1051560"/>
          </a:xfrm>
          <a:prstGeom prst="rect">
            <a:avLst/>
          </a:prstGeom>
          <a:noFill/>
          <a:ln/>
        </p:spPr>
        <p:txBody>
          <a:bodyPr wrap="square" lIns="0" tIns="0" rIns="0" bIns="0" rtlCol="0" anchor="ctr"/>
          <a:lstStyle/>
          <a:p>
            <a:pPr indent="0" marL="0">
              <a:spcAft>
                <a:spcPts val="400"/>
              </a:spcAft>
              <a:buNone/>
            </a:pPr>
            <a:r>
              <a:rPr lang="en-US" sz="1500" dirty="0">
                <a:solidFill>
                  <a:srgbClr val="14213D"/>
                </a:solidFill>
                <a:latin typeface="Segoe UI" pitchFamily="34" charset="0"/>
                <a:ea typeface="Segoe UI" pitchFamily="34" charset="-122"/>
                <a:cs typeface="Segoe UI" pitchFamily="34" charset="-120"/>
              </a:rPr>
              <a:t>Flagged a genuine Netflix payment alert as a fake link</a:t>
            </a:r>
            <a:endParaRPr lang="en-US" sz="1500" dirty="0"/>
          </a:p>
        </p:txBody>
      </p:sp>
      <p:sp>
        <p:nvSpPr>
          <p:cNvPr id="11" name="Shape 9"/>
          <p:cNvSpPr/>
          <p:nvPr/>
        </p:nvSpPr>
        <p:spPr>
          <a:xfrm>
            <a:off x="5961888" y="3675888"/>
            <a:ext cx="457200" cy="914"/>
          </a:xfrm>
          <a:prstGeom prst="line">
            <a:avLst/>
          </a:prstGeom>
          <a:noFill/>
          <a:ln w="22225">
            <a:solidFill>
              <a:srgbClr val="94A3B8"/>
            </a:solidFill>
            <a:prstDash val="solid"/>
            <a:tailEnd type="triangle"/>
          </a:ln>
        </p:spPr>
      </p:sp>
      <p:sp>
        <p:nvSpPr>
          <p:cNvPr id="12" name="Shape 10"/>
          <p:cNvSpPr/>
          <p:nvPr/>
        </p:nvSpPr>
        <p:spPr>
          <a:xfrm>
            <a:off x="6537960" y="3154680"/>
            <a:ext cx="4919472" cy="1051560"/>
          </a:xfrm>
          <a:prstGeom prst="roundRect">
            <a:avLst>
              <a:gd name="adj" fmla="val 6957"/>
            </a:avLst>
          </a:prstGeom>
          <a:solidFill>
            <a:srgbClr val="E7F6EF"/>
          </a:solidFill>
          <a:ln w="12700">
            <a:solidFill>
              <a:srgbClr val="E7F6EF"/>
            </a:solidFill>
            <a:prstDash val="solid"/>
          </a:ln>
        </p:spPr>
      </p:sp>
      <p:sp>
        <p:nvSpPr>
          <p:cNvPr id="13" name="Text 11"/>
          <p:cNvSpPr txBox="1"/>
          <p:nvPr/>
        </p:nvSpPr>
        <p:spPr>
          <a:xfrm>
            <a:off x="6793992" y="3154680"/>
            <a:ext cx="4480560" cy="1051560"/>
          </a:xfrm>
          <a:prstGeom prst="rect">
            <a:avLst/>
          </a:prstGeom>
          <a:noFill/>
          <a:ln/>
        </p:spPr>
        <p:txBody>
          <a:bodyPr wrap="square" lIns="0" tIns="0" rIns="0" bIns="0" rtlCol="0" anchor="ctr"/>
          <a:lstStyle/>
          <a:p>
            <a:pPr indent="0" marL="0">
              <a:spcAft>
                <a:spcPts val="400"/>
              </a:spcAft>
              <a:buNone/>
            </a:pPr>
            <a:r>
              <a:rPr lang="en-US" sz="1500" dirty="0">
                <a:solidFill>
                  <a:srgbClr val="14213D"/>
                </a:solidFill>
                <a:latin typeface="Segoe UI" pitchFamily="34" charset="0"/>
                <a:ea typeface="Segoe UI" pitchFamily="34" charset="-122"/>
                <a:cs typeface="Segoe UI" pitchFamily="34" charset="-120"/>
              </a:rPr>
              <a:t>Well-known merchant domains are trusted</a:t>
            </a:r>
            <a:endParaRPr lang="en-US" sz="1500" dirty="0"/>
          </a:p>
          <a:p>
            <a:pPr indent="0" marL="0">
              <a:spcAft>
                <a:spcPts val="400"/>
              </a:spcAft>
              <a:buNone/>
            </a:pPr>
            <a:r>
              <a:rPr lang="en-US" sz="1500" b="1" dirty="0">
                <a:solidFill>
                  <a:srgbClr val="00A862"/>
                </a:solidFill>
                <a:latin typeface="Segoe UI" pitchFamily="34" charset="0"/>
                <a:ea typeface="Segoe UI" pitchFamily="34" charset="-122"/>
                <a:cs typeface="Segoe UI" pitchFamily="34" charset="-120"/>
              </a:rPr>
              <a:t>3.3% → 0% false alarms</a:t>
            </a:r>
            <a:endParaRPr lang="en-US" sz="1500" dirty="0"/>
          </a:p>
        </p:txBody>
      </p:sp>
      <p:sp>
        <p:nvSpPr>
          <p:cNvPr id="14" name="Shape 12"/>
          <p:cNvSpPr/>
          <p:nvPr/>
        </p:nvSpPr>
        <p:spPr>
          <a:xfrm>
            <a:off x="731520" y="4480560"/>
            <a:ext cx="5120640" cy="1051560"/>
          </a:xfrm>
          <a:prstGeom prst="roundRect">
            <a:avLst>
              <a:gd name="adj" fmla="val 6957"/>
            </a:avLst>
          </a:prstGeom>
          <a:solidFill>
            <a:srgbClr val="FDECEF"/>
          </a:solidFill>
          <a:ln w="12700">
            <a:solidFill>
              <a:srgbClr val="FDECEF"/>
            </a:solidFill>
            <a:prstDash val="solid"/>
          </a:ln>
        </p:spPr>
      </p:sp>
      <p:sp>
        <p:nvSpPr>
          <p:cNvPr id="15" name="Text 13"/>
          <p:cNvSpPr txBox="1"/>
          <p:nvPr/>
        </p:nvSpPr>
        <p:spPr>
          <a:xfrm>
            <a:off x="987552" y="4480560"/>
            <a:ext cx="4663440" cy="1051560"/>
          </a:xfrm>
          <a:prstGeom prst="rect">
            <a:avLst/>
          </a:prstGeom>
          <a:noFill/>
          <a:ln/>
        </p:spPr>
        <p:txBody>
          <a:bodyPr wrap="square" lIns="0" tIns="0" rIns="0" bIns="0" rtlCol="0" anchor="ctr"/>
          <a:lstStyle/>
          <a:p>
            <a:pPr indent="0" marL="0">
              <a:spcAft>
                <a:spcPts val="400"/>
              </a:spcAft>
              <a:buNone/>
            </a:pPr>
            <a:r>
              <a:rPr lang="en-US" sz="1500" dirty="0">
                <a:solidFill>
                  <a:srgbClr val="14213D"/>
                </a:solidFill>
                <a:latin typeface="Segoe UI" pitchFamily="34" charset="0"/>
                <a:ea typeface="Segoe UI" pitchFamily="34" charset="-122"/>
                <a:cs typeface="Segoe UI" pitchFamily="34" charset="-120"/>
              </a:rPr>
              <a:t>Still missed: an investment pitch with only a Telegram handle</a:t>
            </a:r>
            <a:endParaRPr lang="en-US" sz="1500" dirty="0"/>
          </a:p>
        </p:txBody>
      </p:sp>
      <p:sp>
        <p:nvSpPr>
          <p:cNvPr id="16" name="Shape 14"/>
          <p:cNvSpPr/>
          <p:nvPr/>
        </p:nvSpPr>
        <p:spPr>
          <a:xfrm>
            <a:off x="5961888" y="5001768"/>
            <a:ext cx="457200" cy="914"/>
          </a:xfrm>
          <a:prstGeom prst="line">
            <a:avLst/>
          </a:prstGeom>
          <a:noFill/>
          <a:ln w="22225">
            <a:solidFill>
              <a:srgbClr val="94A3B8"/>
            </a:solidFill>
            <a:prstDash val="solid"/>
            <a:tailEnd type="triangle"/>
          </a:ln>
        </p:spPr>
      </p:sp>
      <p:sp>
        <p:nvSpPr>
          <p:cNvPr id="17" name="Shape 15"/>
          <p:cNvSpPr/>
          <p:nvPr/>
        </p:nvSpPr>
        <p:spPr>
          <a:xfrm>
            <a:off x="6537960" y="4480560"/>
            <a:ext cx="4919472" cy="1051560"/>
          </a:xfrm>
          <a:prstGeom prst="roundRect">
            <a:avLst>
              <a:gd name="adj" fmla="val 6957"/>
            </a:avLst>
          </a:prstGeom>
          <a:solidFill>
            <a:srgbClr val="FDF3E1"/>
          </a:solidFill>
          <a:ln w="12700">
            <a:solidFill>
              <a:srgbClr val="FDF3E1"/>
            </a:solidFill>
            <a:prstDash val="solid"/>
          </a:ln>
        </p:spPr>
      </p:sp>
      <p:sp>
        <p:nvSpPr>
          <p:cNvPr id="18" name="Text 16"/>
          <p:cNvSpPr txBox="1"/>
          <p:nvPr/>
        </p:nvSpPr>
        <p:spPr>
          <a:xfrm>
            <a:off x="6793992" y="4480560"/>
            <a:ext cx="4480560" cy="1051560"/>
          </a:xfrm>
          <a:prstGeom prst="rect">
            <a:avLst/>
          </a:prstGeom>
          <a:noFill/>
          <a:ln/>
        </p:spPr>
        <p:txBody>
          <a:bodyPr wrap="square" lIns="0" tIns="0" rIns="0" bIns="0" rtlCol="0" anchor="ctr"/>
          <a:lstStyle/>
          <a:p>
            <a:pPr indent="0" marL="0">
              <a:spcAft>
                <a:spcPts val="400"/>
              </a:spcAft>
              <a:buNone/>
            </a:pPr>
            <a:r>
              <a:rPr lang="en-US" sz="1500" dirty="0">
                <a:solidFill>
                  <a:srgbClr val="14213D"/>
                </a:solidFill>
                <a:latin typeface="Segoe UI" pitchFamily="34" charset="0"/>
                <a:ea typeface="Segoe UI" pitchFamily="34" charset="-122"/>
                <a:cs typeface="Segoe UI" pitchFamily="34" charset="-120"/>
              </a:rPr>
              <a:t>Retrain on real reports during the pilot</a:t>
            </a:r>
            <a:endParaRPr lang="en-US" sz="1500" dirty="0"/>
          </a:p>
        </p:txBody>
      </p:sp>
      <p:sp>
        <p:nvSpPr>
          <p:cNvPr id="25" name="Slide Number Placeholder 0"/>
          <p:cNvSpPr>
            <a:spLocks noGrp="1"/>
          </p:cNvSpPr>
          <p:nvPr>
            <p:ph type="sldNum" sz="quarter" idx="4294967295"/>
          </p:nvPr>
        </p:nvSpPr>
        <p:spPr>
          <a:xfrm>
            <a:off x="1091153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0092BC"/>
                </a:solidFill>
                <a:latin typeface="Segoe UI" pitchFamily="34" charset="0"/>
                <a:ea typeface="Segoe UI" pitchFamily="34" charset="-122"/>
                <a:cs typeface="Segoe UI" pitchFamily="34" charset="-120"/>
              </a:rPr>
              <a:t>MARKET SIZE</a:t>
            </a:r>
            <a:endParaRPr lang="en-US" sz="1100" dirty="0"/>
          </a:p>
        </p:txBody>
      </p:sp>
      <p:sp>
        <p:nvSpPr>
          <p:cNvPr id="3" name="Text 1"/>
          <p:cNvSpPr txBox="1"/>
          <p:nvPr/>
        </p:nvSpPr>
        <p:spPr>
          <a:xfrm>
            <a:off x="731520" y="777240"/>
            <a:ext cx="10728655" cy="731520"/>
          </a:xfrm>
          <a:prstGeom prst="rect">
            <a:avLst/>
          </a:prstGeom>
          <a:noFill/>
          <a:ln/>
        </p:spPr>
        <p:txBody>
          <a:bodyPr wrap="square" lIns="0" tIns="0" rIns="0" bIns="0" rtlCol="0" anchor="t"/>
          <a:lstStyle/>
          <a:p>
            <a:pPr indent="0" marL="0">
              <a:buNone/>
            </a:pPr>
            <a:r>
              <a:rPr lang="en-US" sz="3000" b="1" dirty="0">
                <a:solidFill>
                  <a:srgbClr val="14213D"/>
                </a:solidFill>
                <a:latin typeface="Georgia" pitchFamily="34" charset="0"/>
                <a:ea typeface="Georgia" pitchFamily="34" charset="-122"/>
                <a:cs typeface="Georgia" pitchFamily="34" charset="-120"/>
              </a:rPr>
              <a:t>A global problem with a market that already pays</a:t>
            </a:r>
            <a:endParaRPr lang="en-US" sz="3000" dirty="0"/>
          </a:p>
        </p:txBody>
      </p:sp>
      <p:sp>
        <p:nvSpPr>
          <p:cNvPr id="4" name="Text 2"/>
          <p:cNvSpPr txBox="1"/>
          <p:nvPr/>
        </p:nvSpPr>
        <p:spPr>
          <a:xfrm>
            <a:off x="731520" y="1920240"/>
            <a:ext cx="3291840" cy="274320"/>
          </a:xfrm>
          <a:prstGeom prst="rect">
            <a:avLst/>
          </a:prstGeom>
          <a:noFill/>
          <a:ln/>
        </p:spPr>
        <p:txBody>
          <a:bodyPr wrap="square" lIns="0" tIns="0" rIns="0" bIns="0" rtlCol="0" anchor="t"/>
          <a:lstStyle/>
          <a:p>
            <a:pPr indent="0" marL="0">
              <a:spcAft>
                <a:spcPts val="400"/>
              </a:spcAft>
              <a:buNone/>
            </a:pPr>
            <a:r>
              <a:rPr lang="en-US" sz="1100" b="1" spc="100" kern="0" dirty="0">
                <a:solidFill>
                  <a:srgbClr val="E4002B"/>
                </a:solidFill>
                <a:latin typeface="Segoe UI" pitchFamily="34" charset="0"/>
                <a:ea typeface="Segoe UI" pitchFamily="34" charset="-122"/>
                <a:cs typeface="Segoe UI" pitchFamily="34" charset="-120"/>
              </a:rPr>
              <a:t>THE PROBLEM</a:t>
            </a:r>
            <a:endParaRPr lang="en-US" sz="1100" dirty="0"/>
          </a:p>
        </p:txBody>
      </p:sp>
      <p:sp>
        <p:nvSpPr>
          <p:cNvPr id="5" name="Text 3"/>
          <p:cNvSpPr txBox="1"/>
          <p:nvPr/>
        </p:nvSpPr>
        <p:spPr>
          <a:xfrm>
            <a:off x="731520" y="2240280"/>
            <a:ext cx="3383280" cy="1051560"/>
          </a:xfrm>
          <a:prstGeom prst="rect">
            <a:avLst/>
          </a:prstGeom>
          <a:noFill/>
          <a:ln/>
        </p:spPr>
        <p:txBody>
          <a:bodyPr wrap="square" lIns="0" tIns="0" rIns="0" bIns="0" rtlCol="0" anchor="ctr"/>
          <a:lstStyle/>
          <a:p>
            <a:pPr indent="0" marL="0">
              <a:buNone/>
            </a:pPr>
            <a:r>
              <a:rPr lang="en-US" sz="5400" b="1" dirty="0">
                <a:solidFill>
                  <a:srgbClr val="14213D"/>
                </a:solidFill>
                <a:latin typeface="Georgia" pitchFamily="34" charset="0"/>
                <a:ea typeface="Georgia" pitchFamily="34" charset="-122"/>
                <a:cs typeface="Georgia" pitchFamily="34" charset="-120"/>
              </a:rPr>
              <a:t>$442B</a:t>
            </a:r>
            <a:endParaRPr lang="en-US" sz="5400" dirty="0"/>
          </a:p>
        </p:txBody>
      </p:sp>
      <p:sp>
        <p:nvSpPr>
          <p:cNvPr id="6" name="Text 4"/>
          <p:cNvSpPr txBox="1"/>
          <p:nvPr/>
        </p:nvSpPr>
        <p:spPr>
          <a:xfrm>
            <a:off x="731520" y="3383280"/>
            <a:ext cx="3154680" cy="777240"/>
          </a:xfrm>
          <a:prstGeom prst="rect">
            <a:avLst/>
          </a:prstGeom>
          <a:noFill/>
          <a:ln/>
        </p:spPr>
        <p:txBody>
          <a:bodyPr wrap="square" lIns="0" tIns="0" rIns="0" bIns="0" rtlCol="0" anchor="t"/>
          <a:lstStyle/>
          <a:p>
            <a:pPr indent="0" marL="0">
              <a:spcAft>
                <a:spcPts val="400"/>
              </a:spcAft>
              <a:buNone/>
            </a:pPr>
            <a:r>
              <a:rPr lang="en-US" sz="1600" dirty="0">
                <a:solidFill>
                  <a:srgbClr val="334155"/>
                </a:solidFill>
                <a:latin typeface="Segoe UI" pitchFamily="34" charset="0"/>
                <a:ea typeface="Segoe UI" pitchFamily="34" charset="-122"/>
                <a:cs typeface="Segoe UI" pitchFamily="34" charset="-120"/>
              </a:rPr>
              <a:t>lost to scams in one year; 23% of adults lost money</a:t>
            </a:r>
            <a:endParaRPr lang="en-US" sz="1600" dirty="0"/>
          </a:p>
        </p:txBody>
      </p:sp>
      <p:sp>
        <p:nvSpPr>
          <p:cNvPr id="7" name="Text 5"/>
          <p:cNvSpPr txBox="1"/>
          <p:nvPr/>
        </p:nvSpPr>
        <p:spPr>
          <a:xfrm>
            <a:off x="731520" y="4206240"/>
            <a:ext cx="3154680" cy="274320"/>
          </a:xfrm>
          <a:prstGeom prst="rect">
            <a:avLst/>
          </a:prstGeom>
          <a:noFill/>
          <a:ln/>
        </p:spPr>
        <p:txBody>
          <a:bodyPr wrap="square" lIns="0" tIns="0" rIns="0" bIns="0" rtlCol="0" anchor="t"/>
          <a:lstStyle/>
          <a:p>
            <a:pPr indent="0" marL="0">
              <a:spcAft>
                <a:spcPts val="400"/>
              </a:spcAft>
              <a:buNone/>
            </a:pPr>
            <a:r>
              <a:rPr lang="en-US" sz="1050" dirty="0">
                <a:solidFill>
                  <a:srgbClr val="64748B"/>
                </a:solidFill>
                <a:latin typeface="Segoe UI" pitchFamily="34" charset="0"/>
                <a:ea typeface="Segoe UI" pitchFamily="34" charset="-122"/>
                <a:cs typeface="Segoe UI" pitchFamily="34" charset="-120"/>
              </a:rPr>
              <a:t>GASA &amp; Feedzai, 2025</a:t>
            </a:r>
            <a:endParaRPr lang="en-US" sz="1050" dirty="0"/>
          </a:p>
        </p:txBody>
      </p:sp>
      <p:sp>
        <p:nvSpPr>
          <p:cNvPr id="8" name="Text 6"/>
          <p:cNvSpPr txBox="1"/>
          <p:nvPr/>
        </p:nvSpPr>
        <p:spPr>
          <a:xfrm>
            <a:off x="4343400" y="1920240"/>
            <a:ext cx="3291840" cy="274320"/>
          </a:xfrm>
          <a:prstGeom prst="rect">
            <a:avLst/>
          </a:prstGeom>
          <a:noFill/>
          <a:ln/>
        </p:spPr>
        <p:txBody>
          <a:bodyPr wrap="square" lIns="0" tIns="0" rIns="0" bIns="0" rtlCol="0" anchor="t"/>
          <a:lstStyle/>
          <a:p>
            <a:pPr indent="0" marL="0">
              <a:spcAft>
                <a:spcPts val="400"/>
              </a:spcAft>
              <a:buNone/>
            </a:pPr>
            <a:r>
              <a:rPr lang="en-US" sz="1100" b="1" spc="100" kern="0" dirty="0">
                <a:solidFill>
                  <a:srgbClr val="0092BC"/>
                </a:solidFill>
                <a:latin typeface="Segoe UI" pitchFamily="34" charset="0"/>
                <a:ea typeface="Segoe UI" pitchFamily="34" charset="-122"/>
                <a:cs typeface="Segoe UI" pitchFamily="34" charset="-120"/>
              </a:rPr>
              <a:t>MARKET</a:t>
            </a:r>
            <a:endParaRPr lang="en-US" sz="1100" dirty="0"/>
          </a:p>
        </p:txBody>
      </p:sp>
      <p:sp>
        <p:nvSpPr>
          <p:cNvPr id="9" name="Text 7"/>
          <p:cNvSpPr txBox="1"/>
          <p:nvPr/>
        </p:nvSpPr>
        <p:spPr>
          <a:xfrm>
            <a:off x="4343400" y="2240280"/>
            <a:ext cx="3383280" cy="1051560"/>
          </a:xfrm>
          <a:prstGeom prst="rect">
            <a:avLst/>
          </a:prstGeom>
          <a:noFill/>
          <a:ln/>
        </p:spPr>
        <p:txBody>
          <a:bodyPr wrap="square" lIns="0" tIns="0" rIns="0" bIns="0" rtlCol="0" anchor="ctr"/>
          <a:lstStyle/>
          <a:p>
            <a:pPr indent="0" marL="0">
              <a:buNone/>
            </a:pPr>
            <a:r>
              <a:rPr lang="en-US" sz="5400" b="1" dirty="0">
                <a:solidFill>
                  <a:srgbClr val="14213D"/>
                </a:solidFill>
                <a:latin typeface="Georgia" pitchFamily="34" charset="0"/>
                <a:ea typeface="Georgia" pitchFamily="34" charset="-122"/>
                <a:cs typeface="Georgia" pitchFamily="34" charset="-120"/>
              </a:rPr>
              <a:t>~$3B</a:t>
            </a:r>
            <a:endParaRPr lang="en-US" sz="5400" dirty="0"/>
          </a:p>
        </p:txBody>
      </p:sp>
      <p:sp>
        <p:nvSpPr>
          <p:cNvPr id="10" name="Text 8"/>
          <p:cNvSpPr txBox="1"/>
          <p:nvPr/>
        </p:nvSpPr>
        <p:spPr>
          <a:xfrm>
            <a:off x="4343400" y="3383280"/>
            <a:ext cx="3154680" cy="777240"/>
          </a:xfrm>
          <a:prstGeom prst="rect">
            <a:avLst/>
          </a:prstGeom>
          <a:noFill/>
          <a:ln/>
        </p:spPr>
        <p:txBody>
          <a:bodyPr wrap="square" lIns="0" tIns="0" rIns="0" bIns="0" rtlCol="0" anchor="t"/>
          <a:lstStyle/>
          <a:p>
            <a:pPr indent="0" marL="0">
              <a:spcAft>
                <a:spcPts val="400"/>
              </a:spcAft>
              <a:buNone/>
            </a:pPr>
            <a:r>
              <a:rPr lang="en-US" sz="1600" dirty="0">
                <a:solidFill>
                  <a:srgbClr val="334155"/>
                </a:solidFill>
                <a:latin typeface="Segoe UI" pitchFamily="34" charset="0"/>
                <a:ea typeface="Segoe UI" pitchFamily="34" charset="-122"/>
                <a:cs typeface="Segoe UI" pitchFamily="34" charset="-120"/>
              </a:rPr>
              <a:t>spent by operators on SMS firewalls every year</a:t>
            </a:r>
            <a:endParaRPr lang="en-US" sz="1600" dirty="0"/>
          </a:p>
        </p:txBody>
      </p:sp>
      <p:sp>
        <p:nvSpPr>
          <p:cNvPr id="11" name="Text 9"/>
          <p:cNvSpPr txBox="1"/>
          <p:nvPr/>
        </p:nvSpPr>
        <p:spPr>
          <a:xfrm>
            <a:off x="4343400" y="4206240"/>
            <a:ext cx="3154680" cy="274320"/>
          </a:xfrm>
          <a:prstGeom prst="rect">
            <a:avLst/>
          </a:prstGeom>
          <a:noFill/>
          <a:ln/>
        </p:spPr>
        <p:txBody>
          <a:bodyPr wrap="square" lIns="0" tIns="0" rIns="0" bIns="0" rtlCol="0" anchor="t"/>
          <a:lstStyle/>
          <a:p>
            <a:pPr indent="0" marL="0">
              <a:spcAft>
                <a:spcPts val="400"/>
              </a:spcAft>
              <a:buNone/>
            </a:pPr>
            <a:r>
              <a:rPr lang="en-US" sz="1050" dirty="0">
                <a:solidFill>
                  <a:srgbClr val="64748B"/>
                </a:solidFill>
                <a:latin typeface="Segoe UI" pitchFamily="34" charset="0"/>
                <a:ea typeface="Segoe UI" pitchFamily="34" charset="-122"/>
                <a:cs typeface="Segoe UI" pitchFamily="34" charset="-120"/>
              </a:rPr>
              <a:t>industry reports, 2024–25 ($2.7–3.6B)</a:t>
            </a:r>
            <a:endParaRPr lang="en-US" sz="1050" dirty="0"/>
          </a:p>
        </p:txBody>
      </p:sp>
      <p:sp>
        <p:nvSpPr>
          <p:cNvPr id="12" name="Text 10"/>
          <p:cNvSpPr txBox="1"/>
          <p:nvPr/>
        </p:nvSpPr>
        <p:spPr>
          <a:xfrm>
            <a:off x="7955280" y="1920240"/>
            <a:ext cx="3291840" cy="274320"/>
          </a:xfrm>
          <a:prstGeom prst="rect">
            <a:avLst/>
          </a:prstGeom>
          <a:noFill/>
          <a:ln/>
        </p:spPr>
        <p:txBody>
          <a:bodyPr wrap="square" lIns="0" tIns="0" rIns="0" bIns="0" rtlCol="0" anchor="t"/>
          <a:lstStyle/>
          <a:p>
            <a:pPr indent="0" marL="0">
              <a:spcAft>
                <a:spcPts val="400"/>
              </a:spcAft>
              <a:buNone/>
            </a:pPr>
            <a:r>
              <a:rPr lang="en-US" sz="1100" b="1" spc="100" kern="0" dirty="0">
                <a:solidFill>
                  <a:srgbClr val="00A862"/>
                </a:solidFill>
                <a:latin typeface="Segoe UI" pitchFamily="34" charset="0"/>
                <a:ea typeface="Segoe UI" pitchFamily="34" charset="-122"/>
                <a:cs typeface="Segoe UI" pitchFamily="34" charset="-120"/>
              </a:rPr>
              <a:t>OUR START</a:t>
            </a:r>
            <a:endParaRPr lang="en-US" sz="1100" dirty="0"/>
          </a:p>
        </p:txBody>
      </p:sp>
      <p:sp>
        <p:nvSpPr>
          <p:cNvPr id="13" name="Text 11"/>
          <p:cNvSpPr txBox="1"/>
          <p:nvPr/>
        </p:nvSpPr>
        <p:spPr>
          <a:xfrm>
            <a:off x="7955280" y="2240280"/>
            <a:ext cx="3383280" cy="1051560"/>
          </a:xfrm>
          <a:prstGeom prst="rect">
            <a:avLst/>
          </a:prstGeom>
          <a:noFill/>
          <a:ln/>
        </p:spPr>
        <p:txBody>
          <a:bodyPr wrap="square" lIns="0" tIns="0" rIns="0" bIns="0" rtlCol="0" anchor="ctr"/>
          <a:lstStyle/>
          <a:p>
            <a:pPr indent="0" marL="0">
              <a:buNone/>
            </a:pPr>
            <a:r>
              <a:rPr lang="en-US" sz="5400" b="1" dirty="0">
                <a:solidFill>
                  <a:srgbClr val="14213D"/>
                </a:solidFill>
                <a:latin typeface="Georgia" pitchFamily="34" charset="0"/>
                <a:ea typeface="Georgia" pitchFamily="34" charset="-122"/>
                <a:cs typeface="Georgia" pitchFamily="34" charset="-120"/>
              </a:rPr>
              <a:t>12.3M</a:t>
            </a:r>
            <a:endParaRPr lang="en-US" sz="5400" dirty="0"/>
          </a:p>
        </p:txBody>
      </p:sp>
      <p:sp>
        <p:nvSpPr>
          <p:cNvPr id="14" name="Text 12"/>
          <p:cNvSpPr txBox="1"/>
          <p:nvPr/>
        </p:nvSpPr>
        <p:spPr>
          <a:xfrm>
            <a:off x="7955280" y="3383280"/>
            <a:ext cx="3154680" cy="777240"/>
          </a:xfrm>
          <a:prstGeom prst="rect">
            <a:avLst/>
          </a:prstGeom>
          <a:noFill/>
          <a:ln/>
        </p:spPr>
        <p:txBody>
          <a:bodyPr wrap="square" lIns="0" tIns="0" rIns="0" bIns="0" rtlCol="0" anchor="t"/>
          <a:lstStyle/>
          <a:p>
            <a:pPr indent="0" marL="0">
              <a:spcAft>
                <a:spcPts val="400"/>
              </a:spcAft>
              <a:buNone/>
            </a:pPr>
            <a:r>
              <a:rPr lang="en-US" sz="1600" dirty="0">
                <a:solidFill>
                  <a:srgbClr val="334155"/>
                </a:solidFill>
                <a:latin typeface="Segoe UI" pitchFamily="34" charset="0"/>
                <a:ea typeface="Segoe UI" pitchFamily="34" charset="-122"/>
                <a:cs typeface="Segoe UI" pitchFamily="34" charset="-120"/>
              </a:rPr>
              <a:t>mobile lines in Azerbaijan across 3 operators</a:t>
            </a:r>
            <a:endParaRPr lang="en-US" sz="1600" dirty="0"/>
          </a:p>
        </p:txBody>
      </p:sp>
      <p:sp>
        <p:nvSpPr>
          <p:cNvPr id="15" name="Text 13"/>
          <p:cNvSpPr txBox="1"/>
          <p:nvPr/>
        </p:nvSpPr>
        <p:spPr>
          <a:xfrm>
            <a:off x="7955280" y="4206240"/>
            <a:ext cx="3154680" cy="274320"/>
          </a:xfrm>
          <a:prstGeom prst="rect">
            <a:avLst/>
          </a:prstGeom>
          <a:noFill/>
          <a:ln/>
        </p:spPr>
        <p:txBody>
          <a:bodyPr wrap="square" lIns="0" tIns="0" rIns="0" bIns="0" rtlCol="0" anchor="t"/>
          <a:lstStyle/>
          <a:p>
            <a:pPr indent="0" marL="0">
              <a:spcAft>
                <a:spcPts val="400"/>
              </a:spcAft>
              <a:buNone/>
            </a:pPr>
            <a:r>
              <a:rPr lang="en-US" sz="1050" dirty="0">
                <a:solidFill>
                  <a:srgbClr val="64748B"/>
                </a:solidFill>
                <a:latin typeface="Segoe UI" pitchFamily="34" charset="0"/>
                <a:ea typeface="Segoe UI" pitchFamily="34" charset="-122"/>
                <a:cs typeface="Segoe UI" pitchFamily="34" charset="-120"/>
              </a:rPr>
              <a:t>GSMA Intelligence / DataReportal, 2026</a:t>
            </a:r>
            <a:endParaRPr lang="en-US" sz="1050" dirty="0"/>
          </a:p>
        </p:txBody>
      </p:sp>
      <p:sp>
        <p:nvSpPr>
          <p:cNvPr id="16" name="Shape 14"/>
          <p:cNvSpPr/>
          <p:nvPr/>
        </p:nvSpPr>
        <p:spPr>
          <a:xfrm>
            <a:off x="731520" y="4892040"/>
            <a:ext cx="10728655" cy="822960"/>
          </a:xfrm>
          <a:prstGeom prst="roundRect">
            <a:avLst>
              <a:gd name="adj" fmla="val 8889"/>
            </a:avLst>
          </a:prstGeom>
          <a:solidFill>
            <a:srgbClr val="F4F7FB"/>
          </a:solidFill>
          <a:ln w="12700">
            <a:solidFill>
              <a:srgbClr val="F4F7FB"/>
            </a:solidFill>
            <a:prstDash val="solid"/>
          </a:ln>
        </p:spPr>
      </p:sp>
      <p:sp>
        <p:nvSpPr>
          <p:cNvPr id="17" name="Text 15"/>
          <p:cNvSpPr txBox="1"/>
          <p:nvPr/>
        </p:nvSpPr>
        <p:spPr>
          <a:xfrm>
            <a:off x="1005840" y="4892040"/>
            <a:ext cx="10180015" cy="822960"/>
          </a:xfrm>
          <a:prstGeom prst="rect">
            <a:avLst/>
          </a:prstGeom>
          <a:noFill/>
          <a:ln/>
        </p:spPr>
        <p:txBody>
          <a:bodyPr wrap="square" lIns="0" tIns="0" rIns="0" bIns="0" rtlCol="0" anchor="ctr"/>
          <a:lstStyle/>
          <a:p>
            <a:pPr indent="0" marL="0">
              <a:spcAft>
                <a:spcPts val="400"/>
              </a:spcAft>
              <a:buNone/>
            </a:pPr>
            <a:r>
              <a:rPr lang="en-US" sz="1600" b="1" dirty="0">
                <a:solidFill>
                  <a:srgbClr val="14213D"/>
                </a:solidFill>
                <a:latin typeface="Segoe UI" pitchFamily="34" charset="0"/>
                <a:ea typeface="Segoe UI" pitchFamily="34" charset="-122"/>
                <a:cs typeface="Segoe UI" pitchFamily="34" charset="-120"/>
              </a:rPr>
              <a:t>Next markets: </a:t>
            </a:r>
            <a:pPr indent="0" marL="0">
              <a:spcAft>
                <a:spcPts val="400"/>
              </a:spcAft>
              <a:buNone/>
            </a:pPr>
            <a:r>
              <a:rPr lang="en-US" sz="1600" dirty="0">
                <a:solidFill>
                  <a:srgbClr val="334155"/>
                </a:solidFill>
                <a:latin typeface="Segoe UI" pitchFamily="34" charset="0"/>
                <a:ea typeface="Segoe UI" pitchFamily="34" charset="-122"/>
                <a:cs typeface="Segoe UI" pitchFamily="34" charset="-120"/>
              </a:rPr>
              <a:t>Central Asia, Türkiye and the GCC, with the same schemes and language mix</a:t>
            </a:r>
            <a:endParaRPr lang="en-US" sz="1600" dirty="0"/>
          </a:p>
        </p:txBody>
      </p:sp>
      <p:sp>
        <p:nvSpPr>
          <p:cNvPr id="25" name="Slide Number Placeholder 0"/>
          <p:cNvSpPr>
            <a:spLocks noGrp="1"/>
          </p:cNvSpPr>
          <p:nvPr>
            <p:ph type="sldNum" sz="quarter" idx="4294967295"/>
          </p:nvPr>
        </p:nvSpPr>
        <p:spPr>
          <a:xfrm>
            <a:off x="1091153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0092BC"/>
                </a:solidFill>
                <a:latin typeface="Segoe UI" pitchFamily="34" charset="0"/>
                <a:ea typeface="Segoe UI" pitchFamily="34" charset="-122"/>
                <a:cs typeface="Segoe UI" pitchFamily="34" charset="-120"/>
              </a:rPr>
              <a:t>BUSINESS MODEL</a:t>
            </a:r>
            <a:endParaRPr lang="en-US" sz="1100" dirty="0"/>
          </a:p>
        </p:txBody>
      </p:sp>
      <p:sp>
        <p:nvSpPr>
          <p:cNvPr id="3" name="Text 1"/>
          <p:cNvSpPr txBox="1"/>
          <p:nvPr/>
        </p:nvSpPr>
        <p:spPr>
          <a:xfrm>
            <a:off x="731520" y="777240"/>
            <a:ext cx="10728655" cy="731520"/>
          </a:xfrm>
          <a:prstGeom prst="rect">
            <a:avLst/>
          </a:prstGeom>
          <a:noFill/>
          <a:ln/>
        </p:spPr>
        <p:txBody>
          <a:bodyPr wrap="square" lIns="0" tIns="0" rIns="0" bIns="0" rtlCol="0" anchor="t"/>
          <a:lstStyle/>
          <a:p>
            <a:pPr indent="0" marL="0">
              <a:buNone/>
            </a:pPr>
            <a:r>
              <a:rPr lang="en-US" sz="3000" b="1" dirty="0">
                <a:solidFill>
                  <a:srgbClr val="14213D"/>
                </a:solidFill>
                <a:latin typeface="Georgia" pitchFamily="34" charset="0"/>
                <a:ea typeface="Georgia" pitchFamily="34" charset="-122"/>
                <a:cs typeface="Georgia" pitchFamily="34" charset="-120"/>
              </a:rPr>
              <a:t>The operator pays, brands join</a:t>
            </a:r>
            <a:endParaRPr lang="en-US" sz="3000" dirty="0"/>
          </a:p>
        </p:txBody>
      </p:sp>
      <p:sp>
        <p:nvSpPr>
          <p:cNvPr id="4" name="Text 2"/>
          <p:cNvSpPr txBox="1"/>
          <p:nvPr/>
        </p:nvSpPr>
        <p:spPr>
          <a:xfrm>
            <a:off x="731520" y="1874520"/>
            <a:ext cx="731520" cy="777240"/>
          </a:xfrm>
          <a:prstGeom prst="rect">
            <a:avLst/>
          </a:prstGeom>
          <a:noFill/>
          <a:ln/>
        </p:spPr>
        <p:txBody>
          <a:bodyPr wrap="square" lIns="0" tIns="0" rIns="0" bIns="0" rtlCol="0" anchor="ctr"/>
          <a:lstStyle/>
          <a:p>
            <a:pPr indent="0" marL="0">
              <a:buNone/>
            </a:pPr>
            <a:r>
              <a:rPr lang="en-US" sz="4400" b="1" dirty="0">
                <a:solidFill>
                  <a:srgbClr val="00A862"/>
                </a:solidFill>
                <a:latin typeface="Georgia" pitchFamily="34" charset="0"/>
                <a:ea typeface="Georgia" pitchFamily="34" charset="-122"/>
                <a:cs typeface="Georgia" pitchFamily="34" charset="-120"/>
              </a:rPr>
              <a:t>1</a:t>
            </a:r>
            <a:endParaRPr lang="en-US" sz="4400" dirty="0"/>
          </a:p>
        </p:txBody>
      </p:sp>
      <p:sp>
        <p:nvSpPr>
          <p:cNvPr id="5" name="Text 3"/>
          <p:cNvSpPr txBox="1"/>
          <p:nvPr/>
        </p:nvSpPr>
        <p:spPr>
          <a:xfrm>
            <a:off x="731520" y="2697480"/>
            <a:ext cx="3291840" cy="457200"/>
          </a:xfrm>
          <a:prstGeom prst="rect">
            <a:avLst/>
          </a:prstGeom>
          <a:noFill/>
          <a:ln/>
        </p:spPr>
        <p:txBody>
          <a:bodyPr wrap="square" lIns="0" tIns="0" rIns="0" bIns="0" rtlCol="0" anchor="t"/>
          <a:lstStyle/>
          <a:p>
            <a:pPr indent="0" marL="0">
              <a:spcAft>
                <a:spcPts val="400"/>
              </a:spcAft>
              <a:buNone/>
            </a:pPr>
            <a:r>
              <a:rPr lang="en-US" sz="2200" b="1" dirty="0">
                <a:solidFill>
                  <a:srgbClr val="14213D"/>
                </a:solidFill>
                <a:latin typeface="Georgia" pitchFamily="34" charset="0"/>
                <a:ea typeface="Georgia" pitchFamily="34" charset="-122"/>
                <a:cs typeface="Georgia" pitchFamily="34" charset="-120"/>
              </a:rPr>
              <a:t>Operator license</a:t>
            </a:r>
            <a:endParaRPr lang="en-US" sz="2200" dirty="0"/>
          </a:p>
        </p:txBody>
      </p:sp>
      <p:sp>
        <p:nvSpPr>
          <p:cNvPr id="6" name="Text 4"/>
          <p:cNvSpPr txBox="1"/>
          <p:nvPr/>
        </p:nvSpPr>
        <p:spPr>
          <a:xfrm>
            <a:off x="731520" y="3200400"/>
            <a:ext cx="3154680" cy="914400"/>
          </a:xfrm>
          <a:prstGeom prst="rect">
            <a:avLst/>
          </a:prstGeom>
          <a:noFill/>
          <a:ln/>
        </p:spPr>
        <p:txBody>
          <a:bodyPr wrap="square" lIns="0" tIns="0" rIns="0" bIns="0" rtlCol="0" anchor="t"/>
          <a:lstStyle/>
          <a:p>
            <a:pPr indent="0" marL="0">
              <a:spcAft>
                <a:spcPts val="400"/>
              </a:spcAft>
              <a:buNone/>
            </a:pPr>
            <a:r>
              <a:rPr lang="en-US" sz="1550" dirty="0">
                <a:solidFill>
                  <a:srgbClr val="334155"/>
                </a:solidFill>
                <a:latin typeface="Segoe UI" pitchFamily="34" charset="0"/>
                <a:ea typeface="Segoe UI" pitchFamily="34" charset="-122"/>
                <a:cs typeface="Segoe UI" pitchFamily="34" charset="-120"/>
              </a:rPr>
              <a:t>Annual on-premise license, priced by subscriber base, plus support</a:t>
            </a:r>
            <a:endParaRPr lang="en-US" sz="1550" dirty="0"/>
          </a:p>
        </p:txBody>
      </p:sp>
      <p:sp>
        <p:nvSpPr>
          <p:cNvPr id="7" name="Text 5"/>
          <p:cNvSpPr txBox="1"/>
          <p:nvPr/>
        </p:nvSpPr>
        <p:spPr>
          <a:xfrm>
            <a:off x="4343400" y="1874520"/>
            <a:ext cx="731520" cy="777240"/>
          </a:xfrm>
          <a:prstGeom prst="rect">
            <a:avLst/>
          </a:prstGeom>
          <a:noFill/>
          <a:ln/>
        </p:spPr>
        <p:txBody>
          <a:bodyPr wrap="square" lIns="0" tIns="0" rIns="0" bIns="0" rtlCol="0" anchor="ctr"/>
          <a:lstStyle/>
          <a:p>
            <a:pPr indent="0" marL="0">
              <a:buNone/>
            </a:pPr>
            <a:r>
              <a:rPr lang="en-US" sz="4400" b="1" dirty="0">
                <a:solidFill>
                  <a:srgbClr val="0092BC"/>
                </a:solidFill>
                <a:latin typeface="Georgia" pitchFamily="34" charset="0"/>
                <a:ea typeface="Georgia" pitchFamily="34" charset="-122"/>
                <a:cs typeface="Georgia" pitchFamily="34" charset="-120"/>
              </a:rPr>
              <a:t>2</a:t>
            </a:r>
            <a:endParaRPr lang="en-US" sz="4400" dirty="0"/>
          </a:p>
        </p:txBody>
      </p:sp>
      <p:sp>
        <p:nvSpPr>
          <p:cNvPr id="8" name="Text 6"/>
          <p:cNvSpPr txBox="1"/>
          <p:nvPr/>
        </p:nvSpPr>
        <p:spPr>
          <a:xfrm>
            <a:off x="4343400" y="2697480"/>
            <a:ext cx="3291840" cy="457200"/>
          </a:xfrm>
          <a:prstGeom prst="rect">
            <a:avLst/>
          </a:prstGeom>
          <a:noFill/>
          <a:ln/>
        </p:spPr>
        <p:txBody>
          <a:bodyPr wrap="square" lIns="0" tIns="0" rIns="0" bIns="0" rtlCol="0" anchor="t"/>
          <a:lstStyle/>
          <a:p>
            <a:pPr indent="0" marL="0">
              <a:spcAft>
                <a:spcPts val="400"/>
              </a:spcAft>
              <a:buNone/>
            </a:pPr>
            <a:r>
              <a:rPr lang="en-US" sz="2200" b="1" dirty="0">
                <a:solidFill>
                  <a:srgbClr val="14213D"/>
                </a:solidFill>
                <a:latin typeface="Georgia" pitchFamily="34" charset="0"/>
                <a:ea typeface="Georgia" pitchFamily="34" charset="-122"/>
                <a:cs typeface="Georgia" pitchFamily="34" charset="-120"/>
              </a:rPr>
              <a:t>Brand protection</a:t>
            </a:r>
            <a:endParaRPr lang="en-US" sz="2200" dirty="0"/>
          </a:p>
        </p:txBody>
      </p:sp>
      <p:sp>
        <p:nvSpPr>
          <p:cNvPr id="9" name="Text 7"/>
          <p:cNvSpPr txBox="1"/>
          <p:nvPr/>
        </p:nvSpPr>
        <p:spPr>
          <a:xfrm>
            <a:off x="4343400" y="3200400"/>
            <a:ext cx="3154680" cy="914400"/>
          </a:xfrm>
          <a:prstGeom prst="rect">
            <a:avLst/>
          </a:prstGeom>
          <a:noFill/>
          <a:ln/>
        </p:spPr>
        <p:txBody>
          <a:bodyPr wrap="square" lIns="0" tIns="0" rIns="0" bIns="0" rtlCol="0" anchor="t"/>
          <a:lstStyle/>
          <a:p>
            <a:pPr indent="0" marL="0">
              <a:spcAft>
                <a:spcPts val="400"/>
              </a:spcAft>
              <a:buNone/>
            </a:pPr>
            <a:r>
              <a:rPr lang="en-US" sz="1550" dirty="0">
                <a:solidFill>
                  <a:srgbClr val="334155"/>
                </a:solidFill>
                <a:latin typeface="Segoe UI" pitchFamily="34" charset="0"/>
                <a:ea typeface="Segoe UI" pitchFamily="34" charset="-122"/>
                <a:cs typeface="Segoe UI" pitchFamily="34" charset="-120"/>
              </a:rPr>
              <a:t>Banks and Azerpost pay for real-time alerts when their name is faked</a:t>
            </a:r>
            <a:endParaRPr lang="en-US" sz="1550" dirty="0"/>
          </a:p>
        </p:txBody>
      </p:sp>
      <p:sp>
        <p:nvSpPr>
          <p:cNvPr id="10" name="Text 8"/>
          <p:cNvSpPr txBox="1"/>
          <p:nvPr/>
        </p:nvSpPr>
        <p:spPr>
          <a:xfrm>
            <a:off x="7955280" y="1874520"/>
            <a:ext cx="731520" cy="777240"/>
          </a:xfrm>
          <a:prstGeom prst="rect">
            <a:avLst/>
          </a:prstGeom>
          <a:noFill/>
          <a:ln/>
        </p:spPr>
        <p:txBody>
          <a:bodyPr wrap="square" lIns="0" tIns="0" rIns="0" bIns="0" rtlCol="0" anchor="ctr"/>
          <a:lstStyle/>
          <a:p>
            <a:pPr indent="0" marL="0">
              <a:buNone/>
            </a:pPr>
            <a:r>
              <a:rPr lang="en-US" sz="4400" b="1" dirty="0">
                <a:solidFill>
                  <a:srgbClr val="E39A00"/>
                </a:solidFill>
                <a:latin typeface="Georgia" pitchFamily="34" charset="0"/>
                <a:ea typeface="Georgia" pitchFamily="34" charset="-122"/>
                <a:cs typeface="Georgia" pitchFamily="34" charset="-120"/>
              </a:rPr>
              <a:t>3</a:t>
            </a:r>
            <a:endParaRPr lang="en-US" sz="4400" dirty="0"/>
          </a:p>
        </p:txBody>
      </p:sp>
      <p:sp>
        <p:nvSpPr>
          <p:cNvPr id="11" name="Text 9"/>
          <p:cNvSpPr txBox="1"/>
          <p:nvPr/>
        </p:nvSpPr>
        <p:spPr>
          <a:xfrm>
            <a:off x="7955280" y="2697480"/>
            <a:ext cx="3291840" cy="457200"/>
          </a:xfrm>
          <a:prstGeom prst="rect">
            <a:avLst/>
          </a:prstGeom>
          <a:noFill/>
          <a:ln/>
        </p:spPr>
        <p:txBody>
          <a:bodyPr wrap="square" lIns="0" tIns="0" rIns="0" bIns="0" rtlCol="0" anchor="t"/>
          <a:lstStyle/>
          <a:p>
            <a:pPr indent="0" marL="0">
              <a:spcAft>
                <a:spcPts val="400"/>
              </a:spcAft>
              <a:buNone/>
            </a:pPr>
            <a:r>
              <a:rPr lang="en-US" sz="2200" b="1" dirty="0">
                <a:solidFill>
                  <a:srgbClr val="14213D"/>
                </a:solidFill>
                <a:latin typeface="Georgia" pitchFamily="34" charset="0"/>
                <a:ea typeface="Georgia" pitchFamily="34" charset="-122"/>
                <a:cs typeface="Georgia" pitchFamily="34" charset="-120"/>
              </a:rPr>
              <a:t>Scam Shield add-on</a:t>
            </a:r>
            <a:endParaRPr lang="en-US" sz="2200" dirty="0"/>
          </a:p>
        </p:txBody>
      </p:sp>
      <p:sp>
        <p:nvSpPr>
          <p:cNvPr id="12" name="Text 10"/>
          <p:cNvSpPr txBox="1"/>
          <p:nvPr/>
        </p:nvSpPr>
        <p:spPr>
          <a:xfrm>
            <a:off x="7955280" y="3200400"/>
            <a:ext cx="3154680" cy="914400"/>
          </a:xfrm>
          <a:prstGeom prst="rect">
            <a:avLst/>
          </a:prstGeom>
          <a:noFill/>
          <a:ln/>
        </p:spPr>
        <p:txBody>
          <a:bodyPr wrap="square" lIns="0" tIns="0" rIns="0" bIns="0" rtlCol="0" anchor="t"/>
          <a:lstStyle/>
          <a:p>
            <a:pPr indent="0" marL="0">
              <a:spcAft>
                <a:spcPts val="400"/>
              </a:spcAft>
              <a:buNone/>
            </a:pPr>
            <a:r>
              <a:rPr lang="en-US" sz="1550" dirty="0">
                <a:solidFill>
                  <a:srgbClr val="334155"/>
                </a:solidFill>
                <a:latin typeface="Segoe UI" pitchFamily="34" charset="0"/>
                <a:ea typeface="Segoe UI" pitchFamily="34" charset="-122"/>
                <a:cs typeface="Segoe UI" pitchFamily="34" charset="-120"/>
              </a:rPr>
              <a:t>Operator sells protection to subscribers; we share revenue</a:t>
            </a:r>
            <a:endParaRPr lang="en-US" sz="1550" dirty="0"/>
          </a:p>
        </p:txBody>
      </p:sp>
      <p:sp>
        <p:nvSpPr>
          <p:cNvPr id="13" name="Shape 11"/>
          <p:cNvSpPr/>
          <p:nvPr/>
        </p:nvSpPr>
        <p:spPr>
          <a:xfrm>
            <a:off x="731520" y="4526280"/>
            <a:ext cx="5257800" cy="1143000"/>
          </a:xfrm>
          <a:prstGeom prst="roundRect">
            <a:avLst>
              <a:gd name="adj" fmla="val 6400"/>
            </a:avLst>
          </a:prstGeom>
          <a:solidFill>
            <a:srgbClr val="F4F7FB"/>
          </a:solidFill>
          <a:ln w="12700">
            <a:solidFill>
              <a:srgbClr val="F4F7FB"/>
            </a:solidFill>
            <a:prstDash val="solid"/>
          </a:ln>
        </p:spPr>
      </p:sp>
      <p:sp>
        <p:nvSpPr>
          <p:cNvPr id="14" name="Text 12"/>
          <p:cNvSpPr txBox="1"/>
          <p:nvPr/>
        </p:nvSpPr>
        <p:spPr>
          <a:xfrm>
            <a:off x="1005840" y="4681728"/>
            <a:ext cx="4754880" cy="914400"/>
          </a:xfrm>
          <a:prstGeom prst="rect">
            <a:avLst/>
          </a:prstGeom>
          <a:noFill/>
          <a:ln/>
        </p:spPr>
        <p:txBody>
          <a:bodyPr wrap="square" lIns="0" tIns="0" rIns="0" bIns="0" rtlCol="0" anchor="t"/>
          <a:lstStyle/>
          <a:p>
            <a:pPr indent="0" marL="0">
              <a:spcAft>
                <a:spcPts val="400"/>
              </a:spcAft>
              <a:buNone/>
            </a:pPr>
            <a:r>
              <a:rPr lang="en-US" sz="1500" b="1" dirty="0">
                <a:solidFill>
                  <a:srgbClr val="14213D"/>
                </a:solidFill>
                <a:latin typeface="Segoe UI" pitchFamily="34" charset="0"/>
                <a:ea typeface="Segoe UI" pitchFamily="34" charset="-122"/>
                <a:cs typeface="Segoe UI" pitchFamily="34" charset="-120"/>
              </a:rPr>
              <a:t>Unit economics</a:t>
            </a:r>
            <a:endParaRPr lang="en-US" sz="1500" dirty="0"/>
          </a:p>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Near-zero cost per SMS: an LLM is needed for only 2.4% of traffic</a:t>
            </a:r>
            <a:endParaRPr lang="en-US" sz="1500" dirty="0"/>
          </a:p>
        </p:txBody>
      </p:sp>
      <p:sp>
        <p:nvSpPr>
          <p:cNvPr id="15" name="Shape 13"/>
          <p:cNvSpPr/>
          <p:nvPr/>
        </p:nvSpPr>
        <p:spPr>
          <a:xfrm>
            <a:off x="6199632" y="4526280"/>
            <a:ext cx="5257800" cy="1143000"/>
          </a:xfrm>
          <a:prstGeom prst="roundRect">
            <a:avLst>
              <a:gd name="adj" fmla="val 6400"/>
            </a:avLst>
          </a:prstGeom>
          <a:solidFill>
            <a:srgbClr val="F4F7FB"/>
          </a:solidFill>
          <a:ln w="12700">
            <a:solidFill>
              <a:srgbClr val="F4F7FB"/>
            </a:solidFill>
            <a:prstDash val="solid"/>
          </a:ln>
        </p:spPr>
      </p:sp>
      <p:sp>
        <p:nvSpPr>
          <p:cNvPr id="16" name="Text 14"/>
          <p:cNvSpPr txBox="1"/>
          <p:nvPr/>
        </p:nvSpPr>
        <p:spPr>
          <a:xfrm>
            <a:off x="6473952" y="4681728"/>
            <a:ext cx="4754880" cy="914400"/>
          </a:xfrm>
          <a:prstGeom prst="rect">
            <a:avLst/>
          </a:prstGeom>
          <a:noFill/>
          <a:ln/>
        </p:spPr>
        <p:txBody>
          <a:bodyPr wrap="square" lIns="0" tIns="0" rIns="0" bIns="0" rtlCol="0" anchor="t"/>
          <a:lstStyle/>
          <a:p>
            <a:pPr indent="0" marL="0">
              <a:spcAft>
                <a:spcPts val="400"/>
              </a:spcAft>
              <a:buNone/>
            </a:pPr>
            <a:r>
              <a:rPr lang="en-US" sz="1500" b="1" dirty="0">
                <a:solidFill>
                  <a:srgbClr val="14213D"/>
                </a:solidFill>
                <a:latin typeface="Segoe UI" pitchFamily="34" charset="0"/>
                <a:ea typeface="Segoe UI" pitchFamily="34" charset="-122"/>
                <a:cs typeface="Segoe UI" pitchFamily="34" charset="-120"/>
              </a:rPr>
              <a:t>Pricing</a:t>
            </a:r>
            <a:endParaRPr lang="en-US" sz="1500" dirty="0"/>
          </a:p>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Set together with the first operator during the pilot</a:t>
            </a:r>
            <a:endParaRPr lang="en-US" sz="1500" dirty="0"/>
          </a:p>
        </p:txBody>
      </p:sp>
      <p:sp>
        <p:nvSpPr>
          <p:cNvPr id="25" name="Slide Number Placeholder 0"/>
          <p:cNvSpPr>
            <a:spLocks noGrp="1"/>
          </p:cNvSpPr>
          <p:nvPr>
            <p:ph type="sldNum" sz="quarter" idx="4294967295"/>
          </p:nvPr>
        </p:nvSpPr>
        <p:spPr>
          <a:xfrm>
            <a:off x="1091153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0092BC"/>
                </a:solidFill>
                <a:latin typeface="Segoe UI" pitchFamily="34" charset="0"/>
                <a:ea typeface="Segoe UI" pitchFamily="34" charset="-122"/>
                <a:cs typeface="Segoe UI" pitchFamily="34" charset="-120"/>
              </a:rPr>
              <a:t>PRODUCT MILESTONES</a:t>
            </a:r>
            <a:endParaRPr lang="en-US" sz="1100" dirty="0"/>
          </a:p>
        </p:txBody>
      </p:sp>
      <p:sp>
        <p:nvSpPr>
          <p:cNvPr id="3" name="Text 1"/>
          <p:cNvSpPr txBox="1"/>
          <p:nvPr/>
        </p:nvSpPr>
        <p:spPr>
          <a:xfrm>
            <a:off x="731520" y="777240"/>
            <a:ext cx="10728655" cy="731520"/>
          </a:xfrm>
          <a:prstGeom prst="rect">
            <a:avLst/>
          </a:prstGeom>
          <a:noFill/>
          <a:ln/>
        </p:spPr>
        <p:txBody>
          <a:bodyPr wrap="square" lIns="0" tIns="0" rIns="0" bIns="0" rtlCol="0" anchor="t"/>
          <a:lstStyle/>
          <a:p>
            <a:pPr indent="0" marL="0">
              <a:buNone/>
            </a:pPr>
            <a:r>
              <a:rPr lang="en-US" sz="3000" b="1" dirty="0">
                <a:solidFill>
                  <a:srgbClr val="14213D"/>
                </a:solidFill>
                <a:latin typeface="Georgia" pitchFamily="34" charset="0"/>
                <a:ea typeface="Georgia" pitchFamily="34" charset="-122"/>
                <a:cs typeface="Georgia" pitchFamily="34" charset="-120"/>
              </a:rPr>
              <a:t>From prototype to the region</a:t>
            </a:r>
            <a:endParaRPr lang="en-US" sz="3000" dirty="0"/>
          </a:p>
        </p:txBody>
      </p:sp>
      <p:sp>
        <p:nvSpPr>
          <p:cNvPr id="4" name="Shape 2"/>
          <p:cNvSpPr/>
          <p:nvPr/>
        </p:nvSpPr>
        <p:spPr>
          <a:xfrm>
            <a:off x="914400" y="2880360"/>
            <a:ext cx="8705088" cy="914"/>
          </a:xfrm>
          <a:prstGeom prst="line">
            <a:avLst/>
          </a:prstGeom>
          <a:noFill/>
          <a:ln w="25400">
            <a:solidFill>
              <a:srgbClr val="CBD5E1"/>
            </a:solidFill>
            <a:prstDash val="solid"/>
          </a:ln>
        </p:spPr>
      </p:sp>
      <p:sp>
        <p:nvSpPr>
          <p:cNvPr id="5" name="Shape 3"/>
          <p:cNvSpPr/>
          <p:nvPr/>
        </p:nvSpPr>
        <p:spPr>
          <a:xfrm>
            <a:off x="731520" y="2697480"/>
            <a:ext cx="365760" cy="365760"/>
          </a:xfrm>
          <a:prstGeom prst="ellipse">
            <a:avLst/>
          </a:prstGeom>
          <a:solidFill>
            <a:srgbClr val="00A862"/>
          </a:solidFill>
          <a:ln w="31750">
            <a:solidFill>
              <a:srgbClr val="00A862"/>
            </a:solidFill>
            <a:prstDash val="solid"/>
          </a:ln>
        </p:spPr>
      </p:sp>
      <p:sp>
        <p:nvSpPr>
          <p:cNvPr id="6" name="Text 4"/>
          <p:cNvSpPr txBox="1"/>
          <p:nvPr/>
        </p:nvSpPr>
        <p:spPr>
          <a:xfrm>
            <a:off x="731520" y="1965960"/>
            <a:ext cx="2011680" cy="411480"/>
          </a:xfrm>
          <a:prstGeom prst="rect">
            <a:avLst/>
          </a:prstGeom>
          <a:noFill/>
          <a:ln/>
        </p:spPr>
        <p:txBody>
          <a:bodyPr wrap="square" lIns="0" tIns="0" rIns="0" bIns="0" rtlCol="0" anchor="t"/>
          <a:lstStyle/>
          <a:p>
            <a:pPr indent="0" marL="0">
              <a:spcAft>
                <a:spcPts val="400"/>
              </a:spcAft>
              <a:buNone/>
            </a:pPr>
            <a:r>
              <a:rPr lang="en-US" sz="1900" b="1" dirty="0">
                <a:solidFill>
                  <a:srgbClr val="00A862"/>
                </a:solidFill>
                <a:latin typeface="Georgia" pitchFamily="34" charset="0"/>
                <a:ea typeface="Georgia" pitchFamily="34" charset="-122"/>
                <a:cs typeface="Georgia" pitchFamily="34" charset="-120"/>
              </a:rPr>
              <a:t>Oct 2026</a:t>
            </a:r>
            <a:endParaRPr lang="en-US" sz="1900" dirty="0"/>
          </a:p>
        </p:txBody>
      </p:sp>
      <p:sp>
        <p:nvSpPr>
          <p:cNvPr id="7" name="Text 5"/>
          <p:cNvSpPr txBox="1"/>
          <p:nvPr/>
        </p:nvSpPr>
        <p:spPr>
          <a:xfrm>
            <a:off x="731520" y="2377440"/>
            <a:ext cx="2011680" cy="274320"/>
          </a:xfrm>
          <a:prstGeom prst="rect">
            <a:avLst/>
          </a:prstGeom>
          <a:noFill/>
          <a:ln/>
        </p:spPr>
        <p:txBody>
          <a:bodyPr wrap="square" lIns="0" tIns="0" rIns="0" bIns="0" rtlCol="0" anchor="t"/>
          <a:lstStyle/>
          <a:p>
            <a:pPr indent="0" marL="0">
              <a:spcAft>
                <a:spcPts val="400"/>
              </a:spcAft>
              <a:buNone/>
            </a:pPr>
            <a:r>
              <a:rPr lang="en-US" sz="1050" b="1" spc="100" kern="0" dirty="0">
                <a:solidFill>
                  <a:srgbClr val="00A862"/>
                </a:solidFill>
                <a:latin typeface="Segoe UI" pitchFamily="34" charset="0"/>
                <a:ea typeface="Segoe UI" pitchFamily="34" charset="-122"/>
                <a:cs typeface="Segoe UI" pitchFamily="34" charset="-120"/>
              </a:rPr>
              <a:t>DONE</a:t>
            </a:r>
            <a:endParaRPr lang="en-US" sz="1050" dirty="0"/>
          </a:p>
        </p:txBody>
      </p:sp>
      <p:sp>
        <p:nvSpPr>
          <p:cNvPr id="8" name="Text 6"/>
          <p:cNvSpPr txBox="1"/>
          <p:nvPr/>
        </p:nvSpPr>
        <p:spPr>
          <a:xfrm>
            <a:off x="731520" y="3291840"/>
            <a:ext cx="1920240" cy="1097280"/>
          </a:xfrm>
          <a:prstGeom prst="rect">
            <a:avLst/>
          </a:prstGeom>
          <a:noFill/>
          <a:ln/>
        </p:spPr>
        <p:txBody>
          <a:bodyPr wrap="square" lIns="0" tIns="0" rIns="0" bIns="0" rtlCol="0" anchor="t"/>
          <a:lstStyle/>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Prototype, own model, 2 test sets</a:t>
            </a:r>
            <a:endParaRPr lang="en-US" sz="1500" dirty="0"/>
          </a:p>
        </p:txBody>
      </p:sp>
      <p:sp>
        <p:nvSpPr>
          <p:cNvPr id="9" name="Shape 7"/>
          <p:cNvSpPr/>
          <p:nvPr/>
        </p:nvSpPr>
        <p:spPr>
          <a:xfrm>
            <a:off x="2907792" y="2697480"/>
            <a:ext cx="365760" cy="365760"/>
          </a:xfrm>
          <a:prstGeom prst="ellipse">
            <a:avLst/>
          </a:prstGeom>
          <a:solidFill>
            <a:srgbClr val="FFFFFF"/>
          </a:solidFill>
          <a:ln w="31750">
            <a:solidFill>
              <a:srgbClr val="0092BC"/>
            </a:solidFill>
            <a:prstDash val="solid"/>
          </a:ln>
        </p:spPr>
      </p:sp>
      <p:sp>
        <p:nvSpPr>
          <p:cNvPr id="10" name="Text 8"/>
          <p:cNvSpPr txBox="1"/>
          <p:nvPr/>
        </p:nvSpPr>
        <p:spPr>
          <a:xfrm>
            <a:off x="2907792" y="1965960"/>
            <a:ext cx="2011680" cy="411480"/>
          </a:xfrm>
          <a:prstGeom prst="rect">
            <a:avLst/>
          </a:prstGeom>
          <a:noFill/>
          <a:ln/>
        </p:spPr>
        <p:txBody>
          <a:bodyPr wrap="square" lIns="0" tIns="0" rIns="0" bIns="0" rtlCol="0" anchor="t"/>
          <a:lstStyle/>
          <a:p>
            <a:pPr indent="0" marL="0">
              <a:spcAft>
                <a:spcPts val="400"/>
              </a:spcAft>
              <a:buNone/>
            </a:pPr>
            <a:r>
              <a:rPr lang="en-US" sz="1900" b="1" dirty="0">
                <a:solidFill>
                  <a:srgbClr val="14213D"/>
                </a:solidFill>
                <a:latin typeface="Georgia" pitchFamily="34" charset="0"/>
                <a:ea typeface="Georgia" pitchFamily="34" charset="-122"/>
                <a:cs typeface="Georgia" pitchFamily="34" charset="-120"/>
              </a:rPr>
              <a:t>Month 1</a:t>
            </a:r>
            <a:endParaRPr lang="en-US" sz="1900" dirty="0"/>
          </a:p>
        </p:txBody>
      </p:sp>
      <p:sp>
        <p:nvSpPr>
          <p:cNvPr id="11" name="Text 9"/>
          <p:cNvSpPr txBox="1"/>
          <p:nvPr/>
        </p:nvSpPr>
        <p:spPr>
          <a:xfrm>
            <a:off x="2907792" y="2377440"/>
            <a:ext cx="2011680" cy="274320"/>
          </a:xfrm>
          <a:prstGeom prst="rect">
            <a:avLst/>
          </a:prstGeom>
          <a:noFill/>
          <a:ln/>
        </p:spPr>
        <p:txBody>
          <a:bodyPr wrap="square" lIns="0" tIns="0" rIns="0" bIns="0" rtlCol="0" anchor="t"/>
          <a:lstStyle/>
          <a:p>
            <a:pPr indent="0" marL="0">
              <a:spcAft>
                <a:spcPts val="400"/>
              </a:spcAft>
              <a:buNone/>
            </a:pPr>
            <a:r>
              <a:rPr lang="en-US" sz="1050" b="1" spc="100" kern="0" dirty="0">
                <a:solidFill>
                  <a:srgbClr val="0092BC"/>
                </a:solidFill>
                <a:latin typeface="Segoe UI" pitchFamily="34" charset="0"/>
                <a:ea typeface="Segoe UI" pitchFamily="34" charset="-122"/>
                <a:cs typeface="Segoe UI" pitchFamily="34" charset="-120"/>
              </a:rPr>
              <a:t>PLANNED</a:t>
            </a:r>
            <a:endParaRPr lang="en-US" sz="1050" dirty="0"/>
          </a:p>
        </p:txBody>
      </p:sp>
      <p:sp>
        <p:nvSpPr>
          <p:cNvPr id="12" name="Text 10"/>
          <p:cNvSpPr txBox="1"/>
          <p:nvPr/>
        </p:nvSpPr>
        <p:spPr>
          <a:xfrm>
            <a:off x="2907792" y="3291840"/>
            <a:ext cx="1920240" cy="1097280"/>
          </a:xfrm>
          <a:prstGeom prst="rect">
            <a:avLst/>
          </a:prstGeom>
          <a:noFill/>
          <a:ln/>
        </p:spPr>
        <p:txBody>
          <a:bodyPr wrap="square" lIns="0" tIns="0" rIns="0" bIns="0" rtlCol="0" anchor="t"/>
          <a:lstStyle/>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Pilot with one operator</a:t>
            </a:r>
            <a:endParaRPr lang="en-US" sz="1500" dirty="0"/>
          </a:p>
        </p:txBody>
      </p:sp>
      <p:sp>
        <p:nvSpPr>
          <p:cNvPr id="13" name="Shape 11"/>
          <p:cNvSpPr/>
          <p:nvPr/>
        </p:nvSpPr>
        <p:spPr>
          <a:xfrm>
            <a:off x="5084064" y="2697480"/>
            <a:ext cx="365760" cy="365760"/>
          </a:xfrm>
          <a:prstGeom prst="ellipse">
            <a:avLst/>
          </a:prstGeom>
          <a:solidFill>
            <a:srgbClr val="FFFFFF"/>
          </a:solidFill>
          <a:ln w="31750">
            <a:solidFill>
              <a:srgbClr val="0092BC"/>
            </a:solidFill>
            <a:prstDash val="solid"/>
          </a:ln>
        </p:spPr>
      </p:sp>
      <p:sp>
        <p:nvSpPr>
          <p:cNvPr id="14" name="Text 12"/>
          <p:cNvSpPr txBox="1"/>
          <p:nvPr/>
        </p:nvSpPr>
        <p:spPr>
          <a:xfrm>
            <a:off x="5084064" y="1965960"/>
            <a:ext cx="2011680" cy="411480"/>
          </a:xfrm>
          <a:prstGeom prst="rect">
            <a:avLst/>
          </a:prstGeom>
          <a:noFill/>
          <a:ln/>
        </p:spPr>
        <p:txBody>
          <a:bodyPr wrap="square" lIns="0" tIns="0" rIns="0" bIns="0" rtlCol="0" anchor="t"/>
          <a:lstStyle/>
          <a:p>
            <a:pPr indent="0" marL="0">
              <a:spcAft>
                <a:spcPts val="400"/>
              </a:spcAft>
              <a:buNone/>
            </a:pPr>
            <a:r>
              <a:rPr lang="en-US" sz="1900" b="1" dirty="0">
                <a:solidFill>
                  <a:srgbClr val="14213D"/>
                </a:solidFill>
                <a:latin typeface="Georgia" pitchFamily="34" charset="0"/>
                <a:ea typeface="Georgia" pitchFamily="34" charset="-122"/>
                <a:cs typeface="Georgia" pitchFamily="34" charset="-120"/>
              </a:rPr>
              <a:t>Months 2–3</a:t>
            </a:r>
            <a:endParaRPr lang="en-US" sz="1900" dirty="0"/>
          </a:p>
        </p:txBody>
      </p:sp>
      <p:sp>
        <p:nvSpPr>
          <p:cNvPr id="15" name="Text 13"/>
          <p:cNvSpPr txBox="1"/>
          <p:nvPr/>
        </p:nvSpPr>
        <p:spPr>
          <a:xfrm>
            <a:off x="5084064" y="2377440"/>
            <a:ext cx="2011680" cy="274320"/>
          </a:xfrm>
          <a:prstGeom prst="rect">
            <a:avLst/>
          </a:prstGeom>
          <a:noFill/>
          <a:ln/>
        </p:spPr>
        <p:txBody>
          <a:bodyPr wrap="square" lIns="0" tIns="0" rIns="0" bIns="0" rtlCol="0" anchor="t"/>
          <a:lstStyle/>
          <a:p>
            <a:pPr indent="0" marL="0">
              <a:spcAft>
                <a:spcPts val="400"/>
              </a:spcAft>
              <a:buNone/>
            </a:pPr>
            <a:r>
              <a:rPr lang="en-US" sz="1050" b="1" spc="100" kern="0" dirty="0">
                <a:solidFill>
                  <a:srgbClr val="0092BC"/>
                </a:solidFill>
                <a:latin typeface="Segoe UI" pitchFamily="34" charset="0"/>
                <a:ea typeface="Segoe UI" pitchFamily="34" charset="-122"/>
                <a:cs typeface="Segoe UI" pitchFamily="34" charset="-120"/>
              </a:rPr>
              <a:t>PLANNED</a:t>
            </a:r>
            <a:endParaRPr lang="en-US" sz="1050" dirty="0"/>
          </a:p>
        </p:txBody>
      </p:sp>
      <p:sp>
        <p:nvSpPr>
          <p:cNvPr id="16" name="Text 14"/>
          <p:cNvSpPr txBox="1"/>
          <p:nvPr/>
        </p:nvSpPr>
        <p:spPr>
          <a:xfrm>
            <a:off x="5084064" y="3291840"/>
            <a:ext cx="1920240" cy="1097280"/>
          </a:xfrm>
          <a:prstGeom prst="rect">
            <a:avLst/>
          </a:prstGeom>
          <a:noFill/>
          <a:ln/>
        </p:spPr>
        <p:txBody>
          <a:bodyPr wrap="square" lIns="0" tIns="0" rIns="0" bIns="0" rtlCol="0" anchor="t"/>
          <a:lstStyle/>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Shadow mode on live traffic, retrain</a:t>
            </a:r>
            <a:endParaRPr lang="en-US" sz="1500" dirty="0"/>
          </a:p>
        </p:txBody>
      </p:sp>
      <p:sp>
        <p:nvSpPr>
          <p:cNvPr id="17" name="Shape 15"/>
          <p:cNvSpPr/>
          <p:nvPr/>
        </p:nvSpPr>
        <p:spPr>
          <a:xfrm>
            <a:off x="7260336" y="2697480"/>
            <a:ext cx="365760" cy="365760"/>
          </a:xfrm>
          <a:prstGeom prst="ellipse">
            <a:avLst/>
          </a:prstGeom>
          <a:solidFill>
            <a:srgbClr val="FFFFFF"/>
          </a:solidFill>
          <a:ln w="31750">
            <a:solidFill>
              <a:srgbClr val="0092BC"/>
            </a:solidFill>
            <a:prstDash val="solid"/>
          </a:ln>
        </p:spPr>
      </p:sp>
      <p:sp>
        <p:nvSpPr>
          <p:cNvPr id="18" name="Text 16"/>
          <p:cNvSpPr txBox="1"/>
          <p:nvPr/>
        </p:nvSpPr>
        <p:spPr>
          <a:xfrm>
            <a:off x="7260336" y="1965960"/>
            <a:ext cx="2011680" cy="411480"/>
          </a:xfrm>
          <a:prstGeom prst="rect">
            <a:avLst/>
          </a:prstGeom>
          <a:noFill/>
          <a:ln/>
        </p:spPr>
        <p:txBody>
          <a:bodyPr wrap="square" lIns="0" tIns="0" rIns="0" bIns="0" rtlCol="0" anchor="t"/>
          <a:lstStyle/>
          <a:p>
            <a:pPr indent="0" marL="0">
              <a:spcAft>
                <a:spcPts val="400"/>
              </a:spcAft>
              <a:buNone/>
            </a:pPr>
            <a:r>
              <a:rPr lang="en-US" sz="1900" b="1" dirty="0">
                <a:solidFill>
                  <a:srgbClr val="14213D"/>
                </a:solidFill>
                <a:latin typeface="Georgia" pitchFamily="34" charset="0"/>
                <a:ea typeface="Georgia" pitchFamily="34" charset="-122"/>
                <a:cs typeface="Georgia" pitchFamily="34" charset="-120"/>
              </a:rPr>
              <a:t>Months 4–6</a:t>
            </a:r>
            <a:endParaRPr lang="en-US" sz="1900" dirty="0"/>
          </a:p>
        </p:txBody>
      </p:sp>
      <p:sp>
        <p:nvSpPr>
          <p:cNvPr id="19" name="Text 17"/>
          <p:cNvSpPr txBox="1"/>
          <p:nvPr/>
        </p:nvSpPr>
        <p:spPr>
          <a:xfrm>
            <a:off x="7260336" y="2377440"/>
            <a:ext cx="2011680" cy="274320"/>
          </a:xfrm>
          <a:prstGeom prst="rect">
            <a:avLst/>
          </a:prstGeom>
          <a:noFill/>
          <a:ln/>
        </p:spPr>
        <p:txBody>
          <a:bodyPr wrap="square" lIns="0" tIns="0" rIns="0" bIns="0" rtlCol="0" anchor="t"/>
          <a:lstStyle/>
          <a:p>
            <a:pPr indent="0" marL="0">
              <a:spcAft>
                <a:spcPts val="400"/>
              </a:spcAft>
              <a:buNone/>
            </a:pPr>
            <a:r>
              <a:rPr lang="en-US" sz="1050" b="1" spc="100" kern="0" dirty="0">
                <a:solidFill>
                  <a:srgbClr val="0092BC"/>
                </a:solidFill>
                <a:latin typeface="Segoe UI" pitchFamily="34" charset="0"/>
                <a:ea typeface="Segoe UI" pitchFamily="34" charset="-122"/>
                <a:cs typeface="Segoe UI" pitchFamily="34" charset="-120"/>
              </a:rPr>
              <a:t>PLANNED</a:t>
            </a:r>
            <a:endParaRPr lang="en-US" sz="1050" dirty="0"/>
          </a:p>
        </p:txBody>
      </p:sp>
      <p:sp>
        <p:nvSpPr>
          <p:cNvPr id="20" name="Text 18"/>
          <p:cNvSpPr txBox="1"/>
          <p:nvPr/>
        </p:nvSpPr>
        <p:spPr>
          <a:xfrm>
            <a:off x="7260336" y="3291840"/>
            <a:ext cx="1920240" cy="1097280"/>
          </a:xfrm>
          <a:prstGeom prst="rect">
            <a:avLst/>
          </a:prstGeom>
          <a:noFill/>
          <a:ln/>
        </p:spPr>
        <p:txBody>
          <a:bodyPr wrap="square" lIns="0" tIns="0" rIns="0" bIns="0" rtlCol="0" anchor="t"/>
          <a:lstStyle/>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Paid license, brand alerts</a:t>
            </a:r>
            <a:endParaRPr lang="en-US" sz="1500" dirty="0"/>
          </a:p>
        </p:txBody>
      </p:sp>
      <p:sp>
        <p:nvSpPr>
          <p:cNvPr id="21" name="Shape 19"/>
          <p:cNvSpPr/>
          <p:nvPr/>
        </p:nvSpPr>
        <p:spPr>
          <a:xfrm>
            <a:off x="9436608" y="2697480"/>
            <a:ext cx="365760" cy="365760"/>
          </a:xfrm>
          <a:prstGeom prst="ellipse">
            <a:avLst/>
          </a:prstGeom>
          <a:solidFill>
            <a:srgbClr val="FFFFFF"/>
          </a:solidFill>
          <a:ln w="31750">
            <a:solidFill>
              <a:srgbClr val="0092BC"/>
            </a:solidFill>
            <a:prstDash val="solid"/>
          </a:ln>
        </p:spPr>
      </p:sp>
      <p:sp>
        <p:nvSpPr>
          <p:cNvPr id="22" name="Text 20"/>
          <p:cNvSpPr txBox="1"/>
          <p:nvPr/>
        </p:nvSpPr>
        <p:spPr>
          <a:xfrm>
            <a:off x="9436608" y="1965960"/>
            <a:ext cx="2011680" cy="411480"/>
          </a:xfrm>
          <a:prstGeom prst="rect">
            <a:avLst/>
          </a:prstGeom>
          <a:noFill/>
          <a:ln/>
        </p:spPr>
        <p:txBody>
          <a:bodyPr wrap="square" lIns="0" tIns="0" rIns="0" bIns="0" rtlCol="0" anchor="t"/>
          <a:lstStyle/>
          <a:p>
            <a:pPr indent="0" marL="0">
              <a:spcAft>
                <a:spcPts val="400"/>
              </a:spcAft>
              <a:buNone/>
            </a:pPr>
            <a:r>
              <a:rPr lang="en-US" sz="1900" b="1" dirty="0">
                <a:solidFill>
                  <a:srgbClr val="14213D"/>
                </a:solidFill>
                <a:latin typeface="Georgia" pitchFamily="34" charset="0"/>
                <a:ea typeface="Georgia" pitchFamily="34" charset="-122"/>
                <a:cs typeface="Georgia" pitchFamily="34" charset="-120"/>
              </a:rPr>
              <a:t>2027</a:t>
            </a:r>
            <a:endParaRPr lang="en-US" sz="1900" dirty="0"/>
          </a:p>
        </p:txBody>
      </p:sp>
      <p:sp>
        <p:nvSpPr>
          <p:cNvPr id="23" name="Text 21"/>
          <p:cNvSpPr txBox="1"/>
          <p:nvPr/>
        </p:nvSpPr>
        <p:spPr>
          <a:xfrm>
            <a:off x="9436608" y="2377440"/>
            <a:ext cx="2011680" cy="274320"/>
          </a:xfrm>
          <a:prstGeom prst="rect">
            <a:avLst/>
          </a:prstGeom>
          <a:noFill/>
          <a:ln/>
        </p:spPr>
        <p:txBody>
          <a:bodyPr wrap="square" lIns="0" tIns="0" rIns="0" bIns="0" rtlCol="0" anchor="t"/>
          <a:lstStyle/>
          <a:p>
            <a:pPr indent="0" marL="0">
              <a:spcAft>
                <a:spcPts val="400"/>
              </a:spcAft>
              <a:buNone/>
            </a:pPr>
            <a:r>
              <a:rPr lang="en-US" sz="1050" b="1" spc="100" kern="0" dirty="0">
                <a:solidFill>
                  <a:srgbClr val="0092BC"/>
                </a:solidFill>
                <a:latin typeface="Segoe UI" pitchFamily="34" charset="0"/>
                <a:ea typeface="Segoe UI" pitchFamily="34" charset="-122"/>
                <a:cs typeface="Segoe UI" pitchFamily="34" charset="-120"/>
              </a:rPr>
              <a:t>PLANNED</a:t>
            </a:r>
            <a:endParaRPr lang="en-US" sz="1050" dirty="0"/>
          </a:p>
        </p:txBody>
      </p:sp>
      <p:sp>
        <p:nvSpPr>
          <p:cNvPr id="24" name="Text 22"/>
          <p:cNvSpPr txBox="1"/>
          <p:nvPr/>
        </p:nvSpPr>
        <p:spPr>
          <a:xfrm>
            <a:off x="9436608" y="3291840"/>
            <a:ext cx="1920240" cy="1097280"/>
          </a:xfrm>
          <a:prstGeom prst="rect">
            <a:avLst/>
          </a:prstGeom>
          <a:noFill/>
          <a:ln/>
        </p:spPr>
        <p:txBody>
          <a:bodyPr wrap="square" lIns="0" tIns="0" rIns="0" bIns="0" rtlCol="0" anchor="t"/>
          <a:lstStyle/>
          <a:p>
            <a:pPr indent="0" marL="0">
              <a:spcAft>
                <a:spcPts val="400"/>
              </a:spcAft>
              <a:buNone/>
            </a:pPr>
            <a:r>
              <a:rPr lang="en-US" sz="1500" dirty="0">
                <a:solidFill>
                  <a:srgbClr val="334155"/>
                </a:solidFill>
                <a:latin typeface="Segoe UI" pitchFamily="34" charset="0"/>
                <a:ea typeface="Segoe UI" pitchFamily="34" charset="-122"/>
                <a:cs typeface="Segoe UI" pitchFamily="34" charset="-120"/>
              </a:rPr>
              <a:t>Central Asia, Türkiye, GCC; voice calls</a:t>
            </a:r>
            <a:endParaRPr lang="en-US" sz="1500" dirty="0"/>
          </a:p>
        </p:txBody>
      </p:sp>
      <p:sp>
        <p:nvSpPr>
          <p:cNvPr id="25" name="Shape 23"/>
          <p:cNvSpPr/>
          <p:nvPr/>
        </p:nvSpPr>
        <p:spPr>
          <a:xfrm>
            <a:off x="731520" y="4800600"/>
            <a:ext cx="10728655" cy="868680"/>
          </a:xfrm>
          <a:prstGeom prst="roundRect">
            <a:avLst>
              <a:gd name="adj" fmla="val 8421"/>
            </a:avLst>
          </a:prstGeom>
          <a:solidFill>
            <a:srgbClr val="F4F7FB"/>
          </a:solidFill>
          <a:ln w="12700">
            <a:solidFill>
              <a:srgbClr val="F4F7FB"/>
            </a:solidFill>
            <a:prstDash val="solid"/>
          </a:ln>
        </p:spPr>
      </p:sp>
      <p:sp>
        <p:nvSpPr>
          <p:cNvPr id="26" name="Text 24"/>
          <p:cNvSpPr txBox="1"/>
          <p:nvPr/>
        </p:nvSpPr>
        <p:spPr>
          <a:xfrm>
            <a:off x="1005840" y="4800600"/>
            <a:ext cx="10180015" cy="868680"/>
          </a:xfrm>
          <a:prstGeom prst="rect">
            <a:avLst/>
          </a:prstGeom>
          <a:noFill/>
          <a:ln/>
        </p:spPr>
        <p:txBody>
          <a:bodyPr wrap="square" lIns="0" tIns="0" rIns="0" bIns="0" rtlCol="0" anchor="ctr"/>
          <a:lstStyle/>
          <a:p>
            <a:pPr indent="0" marL="0">
              <a:spcAft>
                <a:spcPts val="400"/>
              </a:spcAft>
              <a:buNone/>
            </a:pPr>
            <a:r>
              <a:rPr lang="en-US" sz="1550" b="1" dirty="0">
                <a:solidFill>
                  <a:srgbClr val="14213D"/>
                </a:solidFill>
                <a:latin typeface="Segoe UI" pitchFamily="34" charset="0"/>
                <a:ea typeface="Segoe UI" pitchFamily="34" charset="-122"/>
                <a:cs typeface="Segoe UI" pitchFamily="34" charset="-120"/>
              </a:rPr>
              <a:t>Pilot success: </a:t>
            </a:r>
            <a:pPr indent="0" marL="0">
              <a:spcAft>
                <a:spcPts val="400"/>
              </a:spcAft>
              <a:buNone/>
            </a:pPr>
            <a:r>
              <a:rPr lang="en-US" sz="1550" dirty="0">
                <a:solidFill>
                  <a:srgbClr val="334155"/>
                </a:solidFill>
                <a:latin typeface="Segoe UI" pitchFamily="34" charset="0"/>
                <a:ea typeface="Segoe UI" pitchFamily="34" charset="-122"/>
                <a:cs typeface="Segoe UI" pitchFamily="34" charset="-120"/>
              </a:rPr>
              <a:t>time to block a campaign · scams caught vs blocklist · zero false alarms on bank SMS</a:t>
            </a:r>
            <a:endParaRPr lang="en-US" sz="1550" dirty="0"/>
          </a:p>
        </p:txBody>
      </p:sp>
      <p:sp>
        <p:nvSpPr>
          <p:cNvPr id="25" name="Slide Number Placeholder 0"/>
          <p:cNvSpPr>
            <a:spLocks noGrp="1"/>
          </p:cNvSpPr>
          <p:nvPr>
            <p:ph type="sldNum" sz="quarter" idx="4294967295"/>
          </p:nvPr>
        </p:nvSpPr>
        <p:spPr>
          <a:xfrm>
            <a:off x="1091153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0092BC"/>
                </a:solidFill>
                <a:latin typeface="Segoe UI" pitchFamily="34" charset="0"/>
                <a:ea typeface="Segoe UI" pitchFamily="34" charset="-122"/>
                <a:cs typeface="Segoe UI" pitchFamily="34" charset="-120"/>
              </a:rPr>
              <a:t>WHY THIS WORKS</a:t>
            </a:r>
            <a:endParaRPr lang="en-US" sz="1100" dirty="0"/>
          </a:p>
        </p:txBody>
      </p:sp>
      <p:sp>
        <p:nvSpPr>
          <p:cNvPr id="3" name="Text 1"/>
          <p:cNvSpPr txBox="1"/>
          <p:nvPr/>
        </p:nvSpPr>
        <p:spPr>
          <a:xfrm>
            <a:off x="731520" y="777240"/>
            <a:ext cx="10728655" cy="731520"/>
          </a:xfrm>
          <a:prstGeom prst="rect">
            <a:avLst/>
          </a:prstGeom>
          <a:noFill/>
          <a:ln/>
        </p:spPr>
        <p:txBody>
          <a:bodyPr wrap="square" lIns="0" tIns="0" rIns="0" bIns="0" rtlCol="0" anchor="t"/>
          <a:lstStyle/>
          <a:p>
            <a:pPr indent="0" marL="0">
              <a:buNone/>
            </a:pPr>
            <a:r>
              <a:rPr lang="en-US" sz="3000" b="1" dirty="0">
                <a:solidFill>
                  <a:srgbClr val="14213D"/>
                </a:solidFill>
                <a:latin typeface="Georgia" pitchFamily="34" charset="0"/>
                <a:ea typeface="Georgia" pitchFamily="34" charset="-122"/>
                <a:cs typeface="Georgia" pitchFamily="34" charset="-120"/>
              </a:rPr>
              <a:t>Why Qalxan can win</a:t>
            </a:r>
            <a:endParaRPr lang="en-US" sz="3000" dirty="0"/>
          </a:p>
        </p:txBody>
      </p:sp>
      <p:sp>
        <p:nvSpPr>
          <p:cNvPr id="4" name="Shape 2"/>
          <p:cNvSpPr/>
          <p:nvPr/>
        </p:nvSpPr>
        <p:spPr>
          <a:xfrm>
            <a:off x="731520" y="1828800"/>
            <a:ext cx="5257800" cy="1371600"/>
          </a:xfrm>
          <a:prstGeom prst="roundRect">
            <a:avLst>
              <a:gd name="adj" fmla="val 5333"/>
            </a:avLst>
          </a:prstGeom>
          <a:solidFill>
            <a:srgbClr val="F4F7FB"/>
          </a:solidFill>
          <a:ln w="12700">
            <a:solidFill>
              <a:srgbClr val="F4F7FB"/>
            </a:solidFill>
            <a:prstDash val="solid"/>
          </a:ln>
        </p:spPr>
      </p:sp>
      <p:sp>
        <p:nvSpPr>
          <p:cNvPr id="5" name="Text 3"/>
          <p:cNvSpPr txBox="1"/>
          <p:nvPr/>
        </p:nvSpPr>
        <p:spPr>
          <a:xfrm>
            <a:off x="1005840" y="2029968"/>
            <a:ext cx="4754880" cy="1051560"/>
          </a:xfrm>
          <a:prstGeom prst="rect">
            <a:avLst/>
          </a:prstGeom>
          <a:noFill/>
          <a:ln/>
        </p:spPr>
        <p:txBody>
          <a:bodyPr wrap="square" lIns="0" tIns="0" rIns="0" bIns="0" rtlCol="0" anchor="t"/>
          <a:lstStyle/>
          <a:p>
            <a:pPr indent="0" marL="0">
              <a:spcAft>
                <a:spcPts val="400"/>
              </a:spcAft>
              <a:buNone/>
            </a:pPr>
            <a:r>
              <a:rPr lang="en-US" sz="2000" b="1" dirty="0">
                <a:solidFill>
                  <a:srgbClr val="0092BC"/>
                </a:solidFill>
                <a:latin typeface="Georgia" pitchFamily="34" charset="0"/>
                <a:ea typeface="Georgia" pitchFamily="34" charset="-122"/>
                <a:cs typeface="Georgia" pitchFamily="34" charset="-120"/>
              </a:rPr>
              <a:t>Proven</a:t>
            </a:r>
            <a:endParaRPr lang="en-US" sz="1550" dirty="0"/>
          </a:p>
          <a:p>
            <a:pPr indent="0" marL="0">
              <a:spcAft>
                <a:spcPts val="400"/>
              </a:spcAft>
              <a:buNone/>
            </a:pPr>
            <a:r>
              <a:rPr lang="en-US" sz="1550" dirty="0">
                <a:solidFill>
                  <a:srgbClr val="14213D"/>
                </a:solidFill>
                <a:latin typeface="Segoe UI" pitchFamily="34" charset="0"/>
                <a:ea typeface="Segoe UI" pitchFamily="34" charset="-122"/>
                <a:cs typeface="Segoe UI" pitchFamily="34" charset="-120"/>
              </a:rPr>
              <a:t>30% → 97.5% vs today's keyword filter, zero false alarms on bank SMS</a:t>
            </a:r>
            <a:endParaRPr lang="en-US" sz="1550" dirty="0"/>
          </a:p>
        </p:txBody>
      </p:sp>
      <p:sp>
        <p:nvSpPr>
          <p:cNvPr id="6" name="Shape 4"/>
          <p:cNvSpPr/>
          <p:nvPr/>
        </p:nvSpPr>
        <p:spPr>
          <a:xfrm>
            <a:off x="6199632" y="1828800"/>
            <a:ext cx="5257800" cy="1371600"/>
          </a:xfrm>
          <a:prstGeom prst="roundRect">
            <a:avLst>
              <a:gd name="adj" fmla="val 5333"/>
            </a:avLst>
          </a:prstGeom>
          <a:solidFill>
            <a:srgbClr val="F4F7FB"/>
          </a:solidFill>
          <a:ln w="12700">
            <a:solidFill>
              <a:srgbClr val="F4F7FB"/>
            </a:solidFill>
            <a:prstDash val="solid"/>
          </a:ln>
        </p:spPr>
      </p:sp>
      <p:sp>
        <p:nvSpPr>
          <p:cNvPr id="7" name="Text 5"/>
          <p:cNvSpPr txBox="1"/>
          <p:nvPr/>
        </p:nvSpPr>
        <p:spPr>
          <a:xfrm>
            <a:off x="6473952" y="2029968"/>
            <a:ext cx="4754880" cy="1051560"/>
          </a:xfrm>
          <a:prstGeom prst="rect">
            <a:avLst/>
          </a:prstGeom>
          <a:noFill/>
          <a:ln/>
        </p:spPr>
        <p:txBody>
          <a:bodyPr wrap="square" lIns="0" tIns="0" rIns="0" bIns="0" rtlCol="0" anchor="t"/>
          <a:lstStyle/>
          <a:p>
            <a:pPr indent="0" marL="0">
              <a:spcAft>
                <a:spcPts val="400"/>
              </a:spcAft>
              <a:buNone/>
            </a:pPr>
            <a:r>
              <a:rPr lang="en-US" sz="2000" b="1" dirty="0">
                <a:solidFill>
                  <a:srgbClr val="0092BC"/>
                </a:solidFill>
                <a:latin typeface="Georgia" pitchFamily="34" charset="0"/>
                <a:ea typeface="Georgia" pitchFamily="34" charset="-122"/>
                <a:cs typeface="Georgia" pitchFamily="34" charset="-120"/>
              </a:rPr>
              <a:t>Private and cheap</a:t>
            </a:r>
            <a:endParaRPr lang="en-US" sz="1550" dirty="0"/>
          </a:p>
          <a:p>
            <a:pPr indent="0" marL="0">
              <a:spcAft>
                <a:spcPts val="400"/>
              </a:spcAft>
              <a:buNone/>
            </a:pPr>
            <a:r>
              <a:rPr lang="en-US" sz="1550" dirty="0">
                <a:solidFill>
                  <a:srgbClr val="14213D"/>
                </a:solidFill>
                <a:latin typeface="Segoe UI" pitchFamily="34" charset="0"/>
                <a:ea typeface="Segoe UI" pitchFamily="34" charset="-122"/>
                <a:cs typeface="Segoe UI" pitchFamily="34" charset="-120"/>
              </a:rPr>
              <a:t>runs on the operator's servers; 97.6% of traffic needs no API</a:t>
            </a:r>
            <a:endParaRPr lang="en-US" sz="1550" dirty="0"/>
          </a:p>
        </p:txBody>
      </p:sp>
      <p:sp>
        <p:nvSpPr>
          <p:cNvPr id="8" name="Shape 6"/>
          <p:cNvSpPr/>
          <p:nvPr/>
        </p:nvSpPr>
        <p:spPr>
          <a:xfrm>
            <a:off x="731520" y="3429000"/>
            <a:ext cx="5257800" cy="1371600"/>
          </a:xfrm>
          <a:prstGeom prst="roundRect">
            <a:avLst>
              <a:gd name="adj" fmla="val 5333"/>
            </a:avLst>
          </a:prstGeom>
          <a:solidFill>
            <a:srgbClr val="F4F7FB"/>
          </a:solidFill>
          <a:ln w="12700">
            <a:solidFill>
              <a:srgbClr val="F4F7FB"/>
            </a:solidFill>
            <a:prstDash val="solid"/>
          </a:ln>
        </p:spPr>
      </p:sp>
      <p:sp>
        <p:nvSpPr>
          <p:cNvPr id="9" name="Text 7"/>
          <p:cNvSpPr txBox="1"/>
          <p:nvPr/>
        </p:nvSpPr>
        <p:spPr>
          <a:xfrm>
            <a:off x="1005840" y="3630168"/>
            <a:ext cx="4754880" cy="1051560"/>
          </a:xfrm>
          <a:prstGeom prst="rect">
            <a:avLst/>
          </a:prstGeom>
          <a:noFill/>
          <a:ln/>
        </p:spPr>
        <p:txBody>
          <a:bodyPr wrap="square" lIns="0" tIns="0" rIns="0" bIns="0" rtlCol="0" anchor="t"/>
          <a:lstStyle/>
          <a:p>
            <a:pPr indent="0" marL="0">
              <a:spcAft>
                <a:spcPts val="400"/>
              </a:spcAft>
              <a:buNone/>
            </a:pPr>
            <a:r>
              <a:rPr lang="en-US" sz="2000" b="1" dirty="0">
                <a:solidFill>
                  <a:srgbClr val="0092BC"/>
                </a:solidFill>
                <a:latin typeface="Georgia" pitchFamily="34" charset="0"/>
                <a:ea typeface="Georgia" pitchFamily="34" charset="-122"/>
                <a:cs typeface="Georgia" pitchFamily="34" charset="-120"/>
              </a:rPr>
              <a:t>Built for Azerbaijan</a:t>
            </a:r>
            <a:endParaRPr lang="en-US" sz="1550" dirty="0"/>
          </a:p>
          <a:p>
            <a:pPr indent="0" marL="0">
              <a:spcAft>
                <a:spcPts val="400"/>
              </a:spcAft>
              <a:buNone/>
            </a:pPr>
            <a:r>
              <a:rPr lang="en-US" sz="1550" dirty="0">
                <a:solidFill>
                  <a:srgbClr val="14213D"/>
                </a:solidFill>
                <a:latin typeface="Segoe UI" pitchFamily="34" charset="0"/>
                <a:ea typeface="Segoe UI" pitchFamily="34" charset="-122"/>
                <a:cs typeface="Segoe UI" pitchFamily="34" charset="-120"/>
              </a:rPr>
              <a:t>AZ / RU / EN, letter swaps, local brands and schemes</a:t>
            </a:r>
            <a:endParaRPr lang="en-US" sz="1550" dirty="0"/>
          </a:p>
        </p:txBody>
      </p:sp>
      <p:sp>
        <p:nvSpPr>
          <p:cNvPr id="10" name="Shape 8"/>
          <p:cNvSpPr/>
          <p:nvPr/>
        </p:nvSpPr>
        <p:spPr>
          <a:xfrm>
            <a:off x="6199632" y="3429000"/>
            <a:ext cx="5257800" cy="1371600"/>
          </a:xfrm>
          <a:prstGeom prst="roundRect">
            <a:avLst>
              <a:gd name="adj" fmla="val 5333"/>
            </a:avLst>
          </a:prstGeom>
          <a:solidFill>
            <a:srgbClr val="F4F7FB"/>
          </a:solidFill>
          <a:ln w="12700">
            <a:solidFill>
              <a:srgbClr val="F4F7FB"/>
            </a:solidFill>
            <a:prstDash val="solid"/>
          </a:ln>
        </p:spPr>
      </p:sp>
      <p:sp>
        <p:nvSpPr>
          <p:cNvPr id="11" name="Text 9"/>
          <p:cNvSpPr txBox="1"/>
          <p:nvPr/>
        </p:nvSpPr>
        <p:spPr>
          <a:xfrm>
            <a:off x="6473952" y="3630168"/>
            <a:ext cx="4754880" cy="1051560"/>
          </a:xfrm>
          <a:prstGeom prst="rect">
            <a:avLst/>
          </a:prstGeom>
          <a:noFill/>
          <a:ln/>
        </p:spPr>
        <p:txBody>
          <a:bodyPr wrap="square" lIns="0" tIns="0" rIns="0" bIns="0" rtlCol="0" anchor="t"/>
          <a:lstStyle/>
          <a:p>
            <a:pPr indent="0" marL="0">
              <a:spcAft>
                <a:spcPts val="400"/>
              </a:spcAft>
              <a:buNone/>
            </a:pPr>
            <a:r>
              <a:rPr lang="en-US" sz="2000" b="1" dirty="0">
                <a:solidFill>
                  <a:srgbClr val="0092BC"/>
                </a:solidFill>
                <a:latin typeface="Georgia" pitchFamily="34" charset="0"/>
                <a:ea typeface="Georgia" pitchFamily="34" charset="-122"/>
                <a:cs typeface="Georgia" pitchFamily="34" charset="-120"/>
              </a:rPr>
              <a:t>Actionable</a:t>
            </a:r>
            <a:endParaRPr lang="en-US" sz="1550" dirty="0"/>
          </a:p>
          <a:p>
            <a:pPr indent="0" marL="0">
              <a:spcAft>
                <a:spcPts val="400"/>
              </a:spcAft>
              <a:buNone/>
            </a:pPr>
            <a:r>
              <a:rPr lang="en-US" sz="1550" dirty="0">
                <a:solidFill>
                  <a:srgbClr val="14213D"/>
                </a:solidFill>
                <a:latin typeface="Segoe UI" pitchFamily="34" charset="0"/>
                <a:ea typeface="Segoe UI" pitchFamily="34" charset="-122"/>
                <a:cs typeface="Segoe UI" pitchFamily="34" charset="-120"/>
              </a:rPr>
              <a:t>one card per campaign; every verdict explained</a:t>
            </a:r>
            <a:endParaRPr lang="en-US" sz="1550" dirty="0"/>
          </a:p>
        </p:txBody>
      </p:sp>
      <p:sp>
        <p:nvSpPr>
          <p:cNvPr id="12" name="Text 10"/>
          <p:cNvSpPr txBox="1"/>
          <p:nvPr/>
        </p:nvSpPr>
        <p:spPr>
          <a:xfrm>
            <a:off x="731520" y="5257800"/>
            <a:ext cx="10728655" cy="457200"/>
          </a:xfrm>
          <a:prstGeom prst="rect">
            <a:avLst/>
          </a:prstGeom>
          <a:noFill/>
          <a:ln/>
        </p:spPr>
        <p:txBody>
          <a:bodyPr wrap="square" lIns="0" tIns="0" rIns="0" bIns="0" rtlCol="0" anchor="t"/>
          <a:lstStyle/>
          <a:p>
            <a:pPr indent="0" marL="0">
              <a:spcAft>
                <a:spcPts val="400"/>
              </a:spcAft>
              <a:buNone/>
            </a:pPr>
            <a:r>
              <a:rPr lang="en-US" sz="1100" dirty="0">
                <a:solidFill>
                  <a:srgbClr val="64748B"/>
                </a:solidFill>
                <a:latin typeface="Segoe UI" pitchFamily="34" charset="0"/>
                <a:ea typeface="Segoe UI" pitchFamily="34" charset="-122"/>
                <a:cs typeface="Segoe UI" pitchFamily="34" charset="-120"/>
              </a:rPr>
              <a:t>Disclosure: own TF-IDF + logistic regression model trained at the hackathon · Gemini for grey-zone checks · Claude as coding assistant · synthetic and documented-scheme test data, no subscriber data · FastAPI, scikit-learn, aiogram</a:t>
            </a:r>
            <a:endParaRPr lang="en-US" sz="1100" dirty="0"/>
          </a:p>
        </p:txBody>
      </p:sp>
      <p:sp>
        <p:nvSpPr>
          <p:cNvPr id="25" name="Slide Number Placeholder 0"/>
          <p:cNvSpPr>
            <a:spLocks noGrp="1"/>
          </p:cNvSpPr>
          <p:nvPr>
            <p:ph type="sldNum" sz="quarter" idx="4294967295"/>
          </p:nvPr>
        </p:nvSpPr>
        <p:spPr>
          <a:xfrm>
            <a:off x="1091153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0092BC"/>
                </a:solidFill>
                <a:latin typeface="Segoe UI" pitchFamily="34" charset="0"/>
                <a:ea typeface="Segoe UI" pitchFamily="34" charset="-122"/>
                <a:cs typeface="Segoe UI" pitchFamily="34" charset="-120"/>
              </a:rPr>
              <a:t>TEAM</a:t>
            </a:r>
            <a:endParaRPr lang="en-US" sz="1100" dirty="0"/>
          </a:p>
        </p:txBody>
      </p:sp>
      <p:sp>
        <p:nvSpPr>
          <p:cNvPr id="3" name="Text 1"/>
          <p:cNvSpPr txBox="1"/>
          <p:nvPr/>
        </p:nvSpPr>
        <p:spPr>
          <a:xfrm>
            <a:off x="731520" y="777240"/>
            <a:ext cx="10728655" cy="731520"/>
          </a:xfrm>
          <a:prstGeom prst="rect">
            <a:avLst/>
          </a:prstGeom>
          <a:noFill/>
          <a:ln/>
        </p:spPr>
        <p:txBody>
          <a:bodyPr wrap="square" lIns="0" tIns="0" rIns="0" bIns="0" rtlCol="0" anchor="t"/>
          <a:lstStyle/>
          <a:p>
            <a:pPr indent="0" marL="0">
              <a:buNone/>
            </a:pPr>
            <a:r>
              <a:rPr lang="en-US" sz="3000" b="1" dirty="0">
                <a:solidFill>
                  <a:srgbClr val="14213D"/>
                </a:solidFill>
                <a:latin typeface="Georgia" pitchFamily="34" charset="0"/>
                <a:ea typeface="Georgia" pitchFamily="34" charset="-122"/>
                <a:cs typeface="Georgia" pitchFamily="34" charset="-120"/>
              </a:rPr>
              <a:t>Team La Furia Roja</a:t>
            </a:r>
            <a:endParaRPr lang="en-US" sz="3000" dirty="0"/>
          </a:p>
        </p:txBody>
      </p:sp>
      <p:sp>
        <p:nvSpPr>
          <p:cNvPr id="4" name="Shape 2"/>
          <p:cNvSpPr/>
          <p:nvPr/>
        </p:nvSpPr>
        <p:spPr>
          <a:xfrm>
            <a:off x="1280160" y="1920240"/>
            <a:ext cx="1463040" cy="1463040"/>
          </a:xfrm>
          <a:prstGeom prst="ellipse">
            <a:avLst/>
          </a:prstGeom>
          <a:solidFill>
            <a:srgbClr val="F4F7FB"/>
          </a:solidFill>
          <a:ln w="12700">
            <a:solidFill>
              <a:srgbClr val="E2E8F0"/>
            </a:solidFill>
            <a:prstDash val="solid"/>
          </a:ln>
        </p:spPr>
      </p:sp>
      <p:sp>
        <p:nvSpPr>
          <p:cNvPr id="5" name="Text 3"/>
          <p:cNvSpPr txBox="1"/>
          <p:nvPr/>
        </p:nvSpPr>
        <p:spPr>
          <a:xfrm>
            <a:off x="731520" y="3611880"/>
            <a:ext cx="2560320" cy="411480"/>
          </a:xfrm>
          <a:prstGeom prst="rect">
            <a:avLst/>
          </a:prstGeom>
          <a:noFill/>
          <a:ln/>
        </p:spPr>
        <p:txBody>
          <a:bodyPr wrap="square" lIns="0" tIns="0" rIns="0" bIns="0" rtlCol="0" anchor="t"/>
          <a:lstStyle/>
          <a:p>
            <a:pPr algn="ctr" indent="0" marL="0">
              <a:spcAft>
                <a:spcPts val="400"/>
              </a:spcAft>
              <a:buNone/>
            </a:pPr>
            <a:r>
              <a:rPr lang="en-US" sz="1800" b="1" dirty="0">
                <a:solidFill>
                  <a:srgbClr val="14213D"/>
                </a:solidFill>
                <a:latin typeface="Georgia" pitchFamily="34" charset="0"/>
                <a:ea typeface="Georgia" pitchFamily="34" charset="-122"/>
                <a:cs typeface="Georgia" pitchFamily="34" charset="-120"/>
              </a:rPr>
              <a:t>Name Surname</a:t>
            </a:r>
            <a:endParaRPr lang="en-US" sz="1800" dirty="0"/>
          </a:p>
        </p:txBody>
      </p:sp>
      <p:sp>
        <p:nvSpPr>
          <p:cNvPr id="6" name="Text 4"/>
          <p:cNvSpPr txBox="1"/>
          <p:nvPr/>
        </p:nvSpPr>
        <p:spPr>
          <a:xfrm>
            <a:off x="731520" y="4041648"/>
            <a:ext cx="2560320" cy="320040"/>
          </a:xfrm>
          <a:prstGeom prst="rect">
            <a:avLst/>
          </a:prstGeom>
          <a:noFill/>
          <a:ln/>
        </p:spPr>
        <p:txBody>
          <a:bodyPr wrap="square" lIns="0" tIns="0" rIns="0" bIns="0" rtlCol="0" anchor="t"/>
          <a:lstStyle/>
          <a:p>
            <a:pPr algn="ctr" indent="0" marL="0">
              <a:spcAft>
                <a:spcPts val="400"/>
              </a:spcAft>
              <a:buNone/>
            </a:pPr>
            <a:r>
              <a:rPr lang="en-US" sz="1400" dirty="0">
                <a:solidFill>
                  <a:srgbClr val="0092BC"/>
                </a:solidFill>
                <a:latin typeface="Segoe UI" pitchFamily="34" charset="0"/>
                <a:ea typeface="Segoe UI" pitchFamily="34" charset="-122"/>
                <a:cs typeface="Segoe UI" pitchFamily="34" charset="-120"/>
              </a:rPr>
              <a:t>Role</a:t>
            </a:r>
            <a:endParaRPr lang="en-US" sz="1400" dirty="0"/>
          </a:p>
        </p:txBody>
      </p:sp>
      <p:sp>
        <p:nvSpPr>
          <p:cNvPr id="7" name="Text 5"/>
          <p:cNvSpPr txBox="1"/>
          <p:nvPr/>
        </p:nvSpPr>
        <p:spPr>
          <a:xfrm>
            <a:off x="731520" y="4407408"/>
            <a:ext cx="2560320" cy="457200"/>
          </a:xfrm>
          <a:prstGeom prst="rect">
            <a:avLst/>
          </a:prstGeom>
          <a:noFill/>
          <a:ln/>
        </p:spPr>
        <p:txBody>
          <a:bodyPr wrap="square" lIns="0" tIns="0" rIns="0" bIns="0" rtlCol="0" anchor="t"/>
          <a:lstStyle/>
          <a:p>
            <a:pPr algn="ctr" indent="0" marL="0">
              <a:spcAft>
                <a:spcPts val="400"/>
              </a:spcAft>
              <a:buNone/>
            </a:pPr>
            <a:r>
              <a:rPr lang="en-US" sz="1300" dirty="0">
                <a:solidFill>
                  <a:srgbClr val="64748B"/>
                </a:solidFill>
                <a:latin typeface="Segoe UI" pitchFamily="34" charset="0"/>
                <a:ea typeface="Segoe UI" pitchFamily="34" charset="-122"/>
                <a:cs typeface="Segoe UI" pitchFamily="34" charset="-120"/>
              </a:rPr>
              <a:t>What they built in Qalxan</a:t>
            </a:r>
            <a:endParaRPr lang="en-US" sz="1300" dirty="0"/>
          </a:p>
        </p:txBody>
      </p:sp>
      <p:sp>
        <p:nvSpPr>
          <p:cNvPr id="8" name="Shape 6"/>
          <p:cNvSpPr/>
          <p:nvPr/>
        </p:nvSpPr>
        <p:spPr>
          <a:xfrm>
            <a:off x="4005072" y="1920240"/>
            <a:ext cx="1463040" cy="1463040"/>
          </a:xfrm>
          <a:prstGeom prst="ellipse">
            <a:avLst/>
          </a:prstGeom>
          <a:solidFill>
            <a:srgbClr val="F4F7FB"/>
          </a:solidFill>
          <a:ln w="12700">
            <a:solidFill>
              <a:srgbClr val="E2E8F0"/>
            </a:solidFill>
            <a:prstDash val="solid"/>
          </a:ln>
        </p:spPr>
      </p:sp>
      <p:sp>
        <p:nvSpPr>
          <p:cNvPr id="9" name="Text 7"/>
          <p:cNvSpPr txBox="1"/>
          <p:nvPr/>
        </p:nvSpPr>
        <p:spPr>
          <a:xfrm>
            <a:off x="3456432" y="3611880"/>
            <a:ext cx="2560320" cy="411480"/>
          </a:xfrm>
          <a:prstGeom prst="rect">
            <a:avLst/>
          </a:prstGeom>
          <a:noFill/>
          <a:ln/>
        </p:spPr>
        <p:txBody>
          <a:bodyPr wrap="square" lIns="0" tIns="0" rIns="0" bIns="0" rtlCol="0" anchor="t"/>
          <a:lstStyle/>
          <a:p>
            <a:pPr algn="ctr" indent="0" marL="0">
              <a:spcAft>
                <a:spcPts val="400"/>
              </a:spcAft>
              <a:buNone/>
            </a:pPr>
            <a:r>
              <a:rPr lang="en-US" sz="1800" b="1" dirty="0">
                <a:solidFill>
                  <a:srgbClr val="14213D"/>
                </a:solidFill>
                <a:latin typeface="Georgia" pitchFamily="34" charset="0"/>
                <a:ea typeface="Georgia" pitchFamily="34" charset="-122"/>
                <a:cs typeface="Georgia" pitchFamily="34" charset="-120"/>
              </a:rPr>
              <a:t>Name Surname</a:t>
            </a:r>
            <a:endParaRPr lang="en-US" sz="1800" dirty="0"/>
          </a:p>
        </p:txBody>
      </p:sp>
      <p:sp>
        <p:nvSpPr>
          <p:cNvPr id="10" name="Text 8"/>
          <p:cNvSpPr txBox="1"/>
          <p:nvPr/>
        </p:nvSpPr>
        <p:spPr>
          <a:xfrm>
            <a:off x="3456432" y="4041648"/>
            <a:ext cx="2560320" cy="320040"/>
          </a:xfrm>
          <a:prstGeom prst="rect">
            <a:avLst/>
          </a:prstGeom>
          <a:noFill/>
          <a:ln/>
        </p:spPr>
        <p:txBody>
          <a:bodyPr wrap="square" lIns="0" tIns="0" rIns="0" bIns="0" rtlCol="0" anchor="t"/>
          <a:lstStyle/>
          <a:p>
            <a:pPr algn="ctr" indent="0" marL="0">
              <a:spcAft>
                <a:spcPts val="400"/>
              </a:spcAft>
              <a:buNone/>
            </a:pPr>
            <a:r>
              <a:rPr lang="en-US" sz="1400" dirty="0">
                <a:solidFill>
                  <a:srgbClr val="0092BC"/>
                </a:solidFill>
                <a:latin typeface="Segoe UI" pitchFamily="34" charset="0"/>
                <a:ea typeface="Segoe UI" pitchFamily="34" charset="-122"/>
                <a:cs typeface="Segoe UI" pitchFamily="34" charset="-120"/>
              </a:rPr>
              <a:t>Role</a:t>
            </a:r>
            <a:endParaRPr lang="en-US" sz="1400" dirty="0"/>
          </a:p>
        </p:txBody>
      </p:sp>
      <p:sp>
        <p:nvSpPr>
          <p:cNvPr id="11" name="Text 9"/>
          <p:cNvSpPr txBox="1"/>
          <p:nvPr/>
        </p:nvSpPr>
        <p:spPr>
          <a:xfrm>
            <a:off x="3456432" y="4407408"/>
            <a:ext cx="2560320" cy="457200"/>
          </a:xfrm>
          <a:prstGeom prst="rect">
            <a:avLst/>
          </a:prstGeom>
          <a:noFill/>
          <a:ln/>
        </p:spPr>
        <p:txBody>
          <a:bodyPr wrap="square" lIns="0" tIns="0" rIns="0" bIns="0" rtlCol="0" anchor="t"/>
          <a:lstStyle/>
          <a:p>
            <a:pPr algn="ctr" indent="0" marL="0">
              <a:spcAft>
                <a:spcPts val="400"/>
              </a:spcAft>
              <a:buNone/>
            </a:pPr>
            <a:r>
              <a:rPr lang="en-US" sz="1300" dirty="0">
                <a:solidFill>
                  <a:srgbClr val="64748B"/>
                </a:solidFill>
                <a:latin typeface="Segoe UI" pitchFamily="34" charset="0"/>
                <a:ea typeface="Segoe UI" pitchFamily="34" charset="-122"/>
                <a:cs typeface="Segoe UI" pitchFamily="34" charset="-120"/>
              </a:rPr>
              <a:t>What they built in Qalxan</a:t>
            </a:r>
            <a:endParaRPr lang="en-US" sz="1300" dirty="0"/>
          </a:p>
        </p:txBody>
      </p:sp>
      <p:sp>
        <p:nvSpPr>
          <p:cNvPr id="12" name="Shape 10"/>
          <p:cNvSpPr/>
          <p:nvPr/>
        </p:nvSpPr>
        <p:spPr>
          <a:xfrm>
            <a:off x="6729984" y="1920240"/>
            <a:ext cx="1463040" cy="1463040"/>
          </a:xfrm>
          <a:prstGeom prst="ellipse">
            <a:avLst/>
          </a:prstGeom>
          <a:solidFill>
            <a:srgbClr val="F4F7FB"/>
          </a:solidFill>
          <a:ln w="12700">
            <a:solidFill>
              <a:srgbClr val="E2E8F0"/>
            </a:solidFill>
            <a:prstDash val="solid"/>
          </a:ln>
        </p:spPr>
      </p:sp>
      <p:sp>
        <p:nvSpPr>
          <p:cNvPr id="13" name="Text 11"/>
          <p:cNvSpPr txBox="1"/>
          <p:nvPr/>
        </p:nvSpPr>
        <p:spPr>
          <a:xfrm>
            <a:off x="6181344" y="3611880"/>
            <a:ext cx="2560320" cy="411480"/>
          </a:xfrm>
          <a:prstGeom prst="rect">
            <a:avLst/>
          </a:prstGeom>
          <a:noFill/>
          <a:ln/>
        </p:spPr>
        <p:txBody>
          <a:bodyPr wrap="square" lIns="0" tIns="0" rIns="0" bIns="0" rtlCol="0" anchor="t"/>
          <a:lstStyle/>
          <a:p>
            <a:pPr algn="ctr" indent="0" marL="0">
              <a:spcAft>
                <a:spcPts val="400"/>
              </a:spcAft>
              <a:buNone/>
            </a:pPr>
            <a:r>
              <a:rPr lang="en-US" sz="1800" b="1" dirty="0">
                <a:solidFill>
                  <a:srgbClr val="14213D"/>
                </a:solidFill>
                <a:latin typeface="Georgia" pitchFamily="34" charset="0"/>
                <a:ea typeface="Georgia" pitchFamily="34" charset="-122"/>
                <a:cs typeface="Georgia" pitchFamily="34" charset="-120"/>
              </a:rPr>
              <a:t>Name Surname</a:t>
            </a:r>
            <a:endParaRPr lang="en-US" sz="1800" dirty="0"/>
          </a:p>
        </p:txBody>
      </p:sp>
      <p:sp>
        <p:nvSpPr>
          <p:cNvPr id="14" name="Text 12"/>
          <p:cNvSpPr txBox="1"/>
          <p:nvPr/>
        </p:nvSpPr>
        <p:spPr>
          <a:xfrm>
            <a:off x="6181344" y="4041648"/>
            <a:ext cx="2560320" cy="320040"/>
          </a:xfrm>
          <a:prstGeom prst="rect">
            <a:avLst/>
          </a:prstGeom>
          <a:noFill/>
          <a:ln/>
        </p:spPr>
        <p:txBody>
          <a:bodyPr wrap="square" lIns="0" tIns="0" rIns="0" bIns="0" rtlCol="0" anchor="t"/>
          <a:lstStyle/>
          <a:p>
            <a:pPr algn="ctr" indent="0" marL="0">
              <a:spcAft>
                <a:spcPts val="400"/>
              </a:spcAft>
              <a:buNone/>
            </a:pPr>
            <a:r>
              <a:rPr lang="en-US" sz="1400" dirty="0">
                <a:solidFill>
                  <a:srgbClr val="0092BC"/>
                </a:solidFill>
                <a:latin typeface="Segoe UI" pitchFamily="34" charset="0"/>
                <a:ea typeface="Segoe UI" pitchFamily="34" charset="-122"/>
                <a:cs typeface="Segoe UI" pitchFamily="34" charset="-120"/>
              </a:rPr>
              <a:t>Role</a:t>
            </a:r>
            <a:endParaRPr lang="en-US" sz="1400" dirty="0"/>
          </a:p>
        </p:txBody>
      </p:sp>
      <p:sp>
        <p:nvSpPr>
          <p:cNvPr id="15" name="Text 13"/>
          <p:cNvSpPr txBox="1"/>
          <p:nvPr/>
        </p:nvSpPr>
        <p:spPr>
          <a:xfrm>
            <a:off x="6181344" y="4407408"/>
            <a:ext cx="2560320" cy="457200"/>
          </a:xfrm>
          <a:prstGeom prst="rect">
            <a:avLst/>
          </a:prstGeom>
          <a:noFill/>
          <a:ln/>
        </p:spPr>
        <p:txBody>
          <a:bodyPr wrap="square" lIns="0" tIns="0" rIns="0" bIns="0" rtlCol="0" anchor="t"/>
          <a:lstStyle/>
          <a:p>
            <a:pPr algn="ctr" indent="0" marL="0">
              <a:spcAft>
                <a:spcPts val="400"/>
              </a:spcAft>
              <a:buNone/>
            </a:pPr>
            <a:r>
              <a:rPr lang="en-US" sz="1300" dirty="0">
                <a:solidFill>
                  <a:srgbClr val="64748B"/>
                </a:solidFill>
                <a:latin typeface="Segoe UI" pitchFamily="34" charset="0"/>
                <a:ea typeface="Segoe UI" pitchFamily="34" charset="-122"/>
                <a:cs typeface="Segoe UI" pitchFamily="34" charset="-120"/>
              </a:rPr>
              <a:t>What they built in Qalxan</a:t>
            </a:r>
            <a:endParaRPr lang="en-US" sz="1300" dirty="0"/>
          </a:p>
        </p:txBody>
      </p:sp>
      <p:sp>
        <p:nvSpPr>
          <p:cNvPr id="16" name="Shape 14"/>
          <p:cNvSpPr/>
          <p:nvPr/>
        </p:nvSpPr>
        <p:spPr>
          <a:xfrm>
            <a:off x="9454896" y="1920240"/>
            <a:ext cx="1463040" cy="1463040"/>
          </a:xfrm>
          <a:prstGeom prst="ellipse">
            <a:avLst/>
          </a:prstGeom>
          <a:solidFill>
            <a:srgbClr val="F4F7FB"/>
          </a:solidFill>
          <a:ln w="12700">
            <a:solidFill>
              <a:srgbClr val="E2E8F0"/>
            </a:solidFill>
            <a:prstDash val="solid"/>
          </a:ln>
        </p:spPr>
      </p:sp>
      <p:sp>
        <p:nvSpPr>
          <p:cNvPr id="17" name="Text 15"/>
          <p:cNvSpPr txBox="1"/>
          <p:nvPr/>
        </p:nvSpPr>
        <p:spPr>
          <a:xfrm>
            <a:off x="8906256" y="3611880"/>
            <a:ext cx="2560320" cy="411480"/>
          </a:xfrm>
          <a:prstGeom prst="rect">
            <a:avLst/>
          </a:prstGeom>
          <a:noFill/>
          <a:ln/>
        </p:spPr>
        <p:txBody>
          <a:bodyPr wrap="square" lIns="0" tIns="0" rIns="0" bIns="0" rtlCol="0" anchor="t"/>
          <a:lstStyle/>
          <a:p>
            <a:pPr algn="ctr" indent="0" marL="0">
              <a:spcAft>
                <a:spcPts val="400"/>
              </a:spcAft>
              <a:buNone/>
            </a:pPr>
            <a:r>
              <a:rPr lang="en-US" sz="1800" b="1" dirty="0">
                <a:solidFill>
                  <a:srgbClr val="14213D"/>
                </a:solidFill>
                <a:latin typeface="Georgia" pitchFamily="34" charset="0"/>
                <a:ea typeface="Georgia" pitchFamily="34" charset="-122"/>
                <a:cs typeface="Georgia" pitchFamily="34" charset="-120"/>
              </a:rPr>
              <a:t>Name Surname</a:t>
            </a:r>
            <a:endParaRPr lang="en-US" sz="1800" dirty="0"/>
          </a:p>
        </p:txBody>
      </p:sp>
      <p:sp>
        <p:nvSpPr>
          <p:cNvPr id="18" name="Text 16"/>
          <p:cNvSpPr txBox="1"/>
          <p:nvPr/>
        </p:nvSpPr>
        <p:spPr>
          <a:xfrm>
            <a:off x="8906256" y="4041648"/>
            <a:ext cx="2560320" cy="320040"/>
          </a:xfrm>
          <a:prstGeom prst="rect">
            <a:avLst/>
          </a:prstGeom>
          <a:noFill/>
          <a:ln/>
        </p:spPr>
        <p:txBody>
          <a:bodyPr wrap="square" lIns="0" tIns="0" rIns="0" bIns="0" rtlCol="0" anchor="t"/>
          <a:lstStyle/>
          <a:p>
            <a:pPr algn="ctr" indent="0" marL="0">
              <a:spcAft>
                <a:spcPts val="400"/>
              </a:spcAft>
              <a:buNone/>
            </a:pPr>
            <a:r>
              <a:rPr lang="en-US" sz="1400" dirty="0">
                <a:solidFill>
                  <a:srgbClr val="0092BC"/>
                </a:solidFill>
                <a:latin typeface="Segoe UI" pitchFamily="34" charset="0"/>
                <a:ea typeface="Segoe UI" pitchFamily="34" charset="-122"/>
                <a:cs typeface="Segoe UI" pitchFamily="34" charset="-120"/>
              </a:rPr>
              <a:t>Role</a:t>
            </a:r>
            <a:endParaRPr lang="en-US" sz="1400" dirty="0"/>
          </a:p>
        </p:txBody>
      </p:sp>
      <p:sp>
        <p:nvSpPr>
          <p:cNvPr id="19" name="Text 17"/>
          <p:cNvSpPr txBox="1"/>
          <p:nvPr/>
        </p:nvSpPr>
        <p:spPr>
          <a:xfrm>
            <a:off x="8906256" y="4407408"/>
            <a:ext cx="2560320" cy="457200"/>
          </a:xfrm>
          <a:prstGeom prst="rect">
            <a:avLst/>
          </a:prstGeom>
          <a:noFill/>
          <a:ln/>
        </p:spPr>
        <p:txBody>
          <a:bodyPr wrap="square" lIns="0" tIns="0" rIns="0" bIns="0" rtlCol="0" anchor="t"/>
          <a:lstStyle/>
          <a:p>
            <a:pPr algn="ctr" indent="0" marL="0">
              <a:spcAft>
                <a:spcPts val="400"/>
              </a:spcAft>
              <a:buNone/>
            </a:pPr>
            <a:r>
              <a:rPr lang="en-US" sz="1300" dirty="0">
                <a:solidFill>
                  <a:srgbClr val="64748B"/>
                </a:solidFill>
                <a:latin typeface="Segoe UI" pitchFamily="34" charset="0"/>
                <a:ea typeface="Segoe UI" pitchFamily="34" charset="-122"/>
                <a:cs typeface="Segoe UI" pitchFamily="34" charset="-120"/>
              </a:rPr>
              <a:t>What they built in Qalxan</a:t>
            </a:r>
            <a:endParaRPr lang="en-US" sz="1300" dirty="0"/>
          </a:p>
        </p:txBody>
      </p:sp>
      <p:sp>
        <p:nvSpPr>
          <p:cNvPr id="25" name="Slide Number Placeholder 0"/>
          <p:cNvSpPr>
            <a:spLocks noGrp="1"/>
          </p:cNvSpPr>
          <p:nvPr>
            <p:ph type="sldNum" sz="quarter" idx="4294967295"/>
          </p:nvPr>
        </p:nvSpPr>
        <p:spPr>
          <a:xfrm>
            <a:off x="1091153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2286000"/>
            <a:ext cx="10728655" cy="1005840"/>
          </a:xfrm>
          <a:prstGeom prst="rect">
            <a:avLst/>
          </a:prstGeom>
          <a:noFill/>
          <a:ln/>
        </p:spPr>
        <p:txBody>
          <a:bodyPr wrap="square" lIns="0" tIns="0" rIns="0" bIns="0" rtlCol="0" anchor="ctr"/>
          <a:lstStyle/>
          <a:p>
            <a:pPr algn="ctr" indent="0" marL="0">
              <a:buNone/>
            </a:pPr>
            <a:r>
              <a:rPr lang="en-US" sz="4600" b="1" dirty="0">
                <a:solidFill>
                  <a:srgbClr val="14213D"/>
                </a:solidFill>
                <a:latin typeface="Georgia" pitchFamily="34" charset="0"/>
                <a:ea typeface="Georgia" pitchFamily="34" charset="-122"/>
                <a:cs typeface="Georgia" pitchFamily="34" charset="-120"/>
              </a:rPr>
              <a:t>Thank you for your attention</a:t>
            </a:r>
            <a:endParaRPr lang="en-US" sz="4600" dirty="0"/>
          </a:p>
        </p:txBody>
      </p:sp>
      <p:sp>
        <p:nvSpPr>
          <p:cNvPr id="3" name="Text 1"/>
          <p:cNvSpPr txBox="1"/>
          <p:nvPr/>
        </p:nvSpPr>
        <p:spPr>
          <a:xfrm>
            <a:off x="731520" y="3429000"/>
            <a:ext cx="10728655" cy="548640"/>
          </a:xfrm>
          <a:prstGeom prst="rect">
            <a:avLst/>
          </a:prstGeom>
          <a:noFill/>
          <a:ln/>
        </p:spPr>
        <p:txBody>
          <a:bodyPr wrap="square" lIns="0" tIns="0" rIns="0" bIns="0" rtlCol="0" anchor="ctr"/>
          <a:lstStyle/>
          <a:p>
            <a:pPr algn="ctr" indent="0" marL="0">
              <a:buNone/>
            </a:pPr>
            <a:r>
              <a:rPr lang="en-US" sz="2200" i="1" dirty="0">
                <a:solidFill>
                  <a:srgbClr val="0092BC"/>
                </a:solidFill>
                <a:latin typeface="Georgia" pitchFamily="34" charset="0"/>
                <a:ea typeface="Georgia" pitchFamily="34" charset="-122"/>
                <a:cs typeface="Georgia" pitchFamily="34" charset="-120"/>
              </a:rPr>
              <a:t>Qalxan: one shield for every subscriber.</a:t>
            </a:r>
            <a:endParaRPr lang="en-US" sz="2200" dirty="0"/>
          </a:p>
        </p:txBody>
      </p:sp>
      <p:sp>
        <p:nvSpPr>
          <p:cNvPr id="4" name="Text 2"/>
          <p:cNvSpPr txBox="1"/>
          <p:nvPr/>
        </p:nvSpPr>
        <p:spPr>
          <a:xfrm>
            <a:off x="731520" y="4251960"/>
            <a:ext cx="10728655" cy="365760"/>
          </a:xfrm>
          <a:prstGeom prst="rect">
            <a:avLst/>
          </a:prstGeom>
          <a:noFill/>
          <a:ln/>
        </p:spPr>
        <p:txBody>
          <a:bodyPr wrap="square" lIns="0" tIns="0" rIns="0" bIns="0" rtlCol="0" anchor="ctr"/>
          <a:lstStyle/>
          <a:p>
            <a:pPr algn="ctr" indent="0" marL="0">
              <a:buNone/>
            </a:pPr>
            <a:r>
              <a:rPr lang="en-US" sz="1400" dirty="0">
                <a:solidFill>
                  <a:srgbClr val="64748B"/>
                </a:solidFill>
                <a:latin typeface="Segoe UI" pitchFamily="34" charset="0"/>
                <a:ea typeface="Segoe UI" pitchFamily="34" charset="-122"/>
                <a:cs typeface="Segoe UI" pitchFamily="34" charset="-120"/>
              </a:rPr>
              <a:t>Team La Furia Roja · NeuroBridge.SI Baku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La Furia Roja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Qalxan: scam campaign radar for mobile operators</dc:title>
  <dc:subject>PptxGenJS Presentation</dc:subject>
  <dc:creator>Team La Furia Roja</dc:creator>
  <cp:lastModifiedBy>Team La Furia Roja</cp:lastModifiedBy>
  <cp:revision>1</cp:revision>
  <dcterms:created xsi:type="dcterms:W3CDTF">2026-10-09T13:42:59Z</dcterms:created>
  <dcterms:modified xsi:type="dcterms:W3CDTF">2026-10-09T13:42:59Z</dcterms:modified>
</cp:coreProperties>
</file>